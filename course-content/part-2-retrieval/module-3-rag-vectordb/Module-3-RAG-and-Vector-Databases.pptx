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3. Welcome to Module 3. This module covers RAG (Retrieval-Augmented Generation) and Vector Databases — the pattern that grounds LLM responses in external knowledge to reduce hallucinations and enable domain-specific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solves five critical problems: knowledge cutoff (always current), hallucinations (grounded in facts), domain specificity (your data), data privacy (stays in-house), and source attribution (citable references). Core components: Document Store, Embedding Model, Vector DB, Retriever, LLM Generator.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Embeddings convert text to dense vectors capturing semantic meaning. OpenAI's text-embedding-3-small (1536 dims) is the best starting point. For higher accuracy, use text-embedding-3-large (3072 dims). Open-source alternatives (BGE, E5, nomic) enable self-hosting. Cosine similarity measures how close two vectors are in semantic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strategy directly impacts retrieval quality. Fixed-size is simplest. RecursiveCharacterTextSplitter (LangChain) is the default for most use cases — it splits on paragraph, sentence, then word boundaries. Semantic chunking uses embeddings to find natural breakpoints. Document-specific splitters handle code, markdown, and LaTeX. Always include 10-20% overlap between chunks.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main vector databases. Pinecone: managed cloud, billions of vectors, serverless. Weaviate: cloud or self-hosted, hybrid search. Chroma: local-first, great for development. FAISS: Facebook's library, in-memory, best for research. For production: Pinecone or Weaviate. For development: Chroma or FAISS.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RAG pipeline has five stages: 1) Ingestion — load documents with PyPDFLoader, TextLoader, etc. 2) Embedding — convert chunks to vectors. 3) Storage — index in vector DB. 4) Retrieval — find top-k similar chunks for a query. 5) Generation — LLM produces a grounded response using retrieved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retrieval goes beyond simple top-k similarity. Hybrid search combines BM25 keyword matching with vector similarity. Re-ranking uses cross-encoder models to re-score initial results. Multi-query generates query variants to cover different phrasings. Self-query extracts structured filters from natural language (e.g., 'documents from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evaluation uses four key metrics. Faithfulness: is the answer grounded in context (no hallucination)? Relevance: are retrieved chunks actually useful? Context Recall: did we miss any critical information? Answer Correctness: is the final answer factually accurate? Use RAGAS framework for automated evaluation. Always combine automated metrics with human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production issues: chunk boundaries breaking context (fix: overlap + semantic chunking), irrelevant retrieval (fix: re-ranking + hybrid search), stale embeddings (fix: incremental re-indexing), token budget exceeded (fix: compression + top-k tuning), slow retrieval (fix: approximate nearest neighbor indexes like HNSW + caching).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Enterprise scenario: LexisAI, a legal tech company, builds a RAG system over 50,000+ case law documents. Lawyers ask natural language questions and get cited answers with source paragraphs. Uses semantic chunking (preserves legal structure), hybrid search (keyword + vector), and re-ranking for precision. Results: 92% relevance score, 3.2s average response time, 60% reduction in research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key takeaways. 1. RAG grounds LLM responses in external knowledge. 2. Embedding and chunking quality drive retrieval. 3. Vector databases enable fast similarity search. 4. Advanced retrieval techniques improve precision. 5. Evaluate systematically with RAGAS metrics. 6. Production needs indexing pipelines, caching, and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concludes MODULE 3. Students should review the concepts, interview questions, and quiz materials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1E3A5F"/>
          </a:solidFill>
          <a:ln/>
        </p:spPr>
      </p:sp>
      <p:sp>
        <p:nvSpPr>
          <p:cNvPr id="3" name="Shape 1"/>
          <p:cNvSpPr/>
          <p:nvPr/>
        </p:nvSpPr>
        <p:spPr>
          <a:xfrm>
            <a:off x="4114800" y="0"/>
            <a:ext cx="73152" cy="5143500"/>
          </a:xfrm>
          <a:prstGeom prst="rect">
            <a:avLst/>
          </a:prstGeom>
          <a:solidFill>
            <a:srgbClr val="0D9488"/>
          </a:solidFill>
          <a:ln/>
        </p:spPr>
      </p:sp>
      <p:sp>
        <p:nvSpPr>
          <p:cNvPr id="4" name="Text 2"/>
          <p:cNvSpPr/>
          <p:nvPr/>
        </p:nvSpPr>
        <p:spPr>
          <a:xfrm>
            <a:off x="457200" y="1097280"/>
            <a:ext cx="3200400" cy="365760"/>
          </a:xfrm>
          <a:prstGeom prst="rect">
            <a:avLst/>
          </a:prstGeom>
          <a:noFill/>
          <a:ln/>
        </p:spPr>
        <p:txBody>
          <a:bodyPr wrap="square" lIns="0" tIns="0" rIns="0" bIns="0" rtlCol="0" anchor="ctr"/>
          <a:lstStyle/>
          <a:p>
            <a:pPr indent="0" marL="0">
              <a:buNone/>
            </a:pPr>
            <a:r>
              <a:rPr lang="en-US" sz="1200" b="1" spc="400" kern="0" dirty="0">
                <a:solidFill>
                  <a:srgbClr val="0D9488"/>
                </a:solidFill>
                <a:latin typeface="Calibri" pitchFamily="34" charset="0"/>
                <a:ea typeface="Calibri" pitchFamily="34" charset="-122"/>
                <a:cs typeface="Calibri" pitchFamily="34" charset="-120"/>
              </a:rPr>
              <a:t>MODULE 3</a:t>
            </a:r>
            <a:endParaRPr lang="en-US" sz="1200" dirty="0"/>
          </a:p>
        </p:txBody>
      </p:sp>
      <p:sp>
        <p:nvSpPr>
          <p:cNvPr id="5" name="Text 3"/>
          <p:cNvSpPr/>
          <p:nvPr/>
        </p:nvSpPr>
        <p:spPr>
          <a:xfrm>
            <a:off x="457200" y="1554480"/>
            <a:ext cx="3200400" cy="128016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RAG &amp;</a:t>
            </a:r>
            <a:endParaRPr lang="en-US" sz="3000" dirty="0"/>
          </a:p>
          <a:p>
            <a:pPr indent="0" marL="0">
              <a:buNone/>
            </a:pPr>
            <a:r>
              <a:rPr lang="en-US" sz="3000" b="1" dirty="0">
                <a:solidFill>
                  <a:srgbClr val="FFFFFF"/>
                </a:solidFill>
                <a:latin typeface="Georgia" pitchFamily="34" charset="0"/>
                <a:ea typeface="Georgia" pitchFamily="34" charset="-122"/>
                <a:cs typeface="Georgia" pitchFamily="34" charset="-120"/>
              </a:rPr>
              <a:t>Vector Databases</a:t>
            </a:r>
            <a:endParaRPr lang="en-US" sz="3000" dirty="0"/>
          </a:p>
        </p:txBody>
      </p:sp>
      <p:sp>
        <p:nvSpPr>
          <p:cNvPr id="6" name="Text 4"/>
          <p:cNvSpPr/>
          <p:nvPr/>
        </p:nvSpPr>
        <p:spPr>
          <a:xfrm>
            <a:off x="457200" y="2926080"/>
            <a:ext cx="320040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Retrieval-Augmented Generation</a:t>
            </a:r>
            <a:endParaRPr lang="en-US" sz="1300" dirty="0"/>
          </a:p>
        </p:txBody>
      </p:sp>
      <p:sp>
        <p:nvSpPr>
          <p:cNvPr id="7" name="Text 5"/>
          <p:cNvSpPr/>
          <p:nvPr/>
        </p:nvSpPr>
        <p:spPr>
          <a:xfrm>
            <a:off x="457200" y="3657600"/>
            <a:ext cx="3200400" cy="91440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Applied AI Course</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Part 1: Foundations</a:t>
            </a:r>
            <a:endParaRPr lang="en-US" sz="1100" dirty="0"/>
          </a:p>
          <a:p>
            <a:pPr indent="0" marL="0">
              <a:buNone/>
            </a:pPr>
            <a:r>
              <a:rPr lang="en-US" sz="1100" dirty="0">
                <a:solidFill>
                  <a:srgbClr val="0D9488"/>
                </a:solidFill>
                <a:latin typeface="Calibri" pitchFamily="34" charset="0"/>
                <a:ea typeface="Calibri" pitchFamily="34" charset="-122"/>
                <a:cs typeface="Calibri" pitchFamily="34" charset="-120"/>
              </a:rPr>
              <a:t>2026</a:t>
            </a:r>
            <a:endParaRPr lang="en-US" sz="1100" dirty="0"/>
          </a:p>
        </p:txBody>
      </p:sp>
      <p:sp>
        <p:nvSpPr>
          <p:cNvPr id="8" name="Text 6"/>
          <p:cNvSpPr/>
          <p:nvPr/>
        </p:nvSpPr>
        <p:spPr>
          <a:xfrm>
            <a:off x="4572000" y="731520"/>
            <a:ext cx="4114800" cy="457200"/>
          </a:xfrm>
          <a:prstGeom prst="rect">
            <a:avLst/>
          </a:prstGeom>
          <a:noFill/>
          <a:ln/>
        </p:spPr>
        <p:txBody>
          <a:bodyPr wrap="square" lIns="0" tIns="0" rIns="0" bIns="0" rtlCol="0" anchor="ctr"/>
          <a:lstStyle/>
          <a:p>
            <a:pPr indent="0" marL="0">
              <a:buNone/>
            </a:pPr>
            <a:r>
              <a:rPr lang="en-US" sz="1400" b="1" spc="400" kern="0" dirty="0">
                <a:solidFill>
                  <a:srgbClr val="0D9488"/>
                </a:solidFill>
                <a:latin typeface="Calibri" pitchFamily="34" charset="0"/>
                <a:ea typeface="Calibri" pitchFamily="34" charset="-122"/>
                <a:cs typeface="Calibri" pitchFamily="34" charset="-120"/>
              </a:rPr>
              <a:t>AGENDA</a:t>
            </a:r>
            <a:endParaRPr lang="en-US" sz="1400" dirty="0"/>
          </a:p>
        </p:txBody>
      </p:sp>
      <p:sp>
        <p:nvSpPr>
          <p:cNvPr id="9" name="Text 7"/>
          <p:cNvSpPr/>
          <p:nvPr/>
        </p:nvSpPr>
        <p:spPr>
          <a:xfrm>
            <a:off x="4572000" y="1371600"/>
            <a:ext cx="548640" cy="365760"/>
          </a:xfrm>
          <a:prstGeom prst="rect">
            <a:avLst/>
          </a:prstGeom>
          <a:noFill/>
          <a:ln/>
        </p:spPr>
        <p:txBody>
          <a:bodyPr wrap="square" lIns="0" tIns="0" rIns="0" bIns="0" rtlCol="0" anchor="ctr"/>
          <a:lstStyle/>
          <a:p>
            <a:pPr indent="0" marL="0">
              <a:buNone/>
            </a:pPr>
            <a:r>
              <a:rPr lang="en-US" sz="2000" b="1" dirty="0">
                <a:solidFill>
                  <a:srgbClr val="0D9488"/>
                </a:solidFill>
                <a:latin typeface="Georgia" pitchFamily="34" charset="0"/>
                <a:ea typeface="Georgia" pitchFamily="34" charset="-122"/>
                <a:cs typeface="Georgia" pitchFamily="34" charset="-120"/>
              </a:rPr>
              <a:t>01</a:t>
            </a:r>
            <a:endParaRPr lang="en-US" sz="2000" dirty="0"/>
          </a:p>
        </p:txBody>
      </p:sp>
      <p:sp>
        <p:nvSpPr>
          <p:cNvPr id="10" name="Text 8"/>
          <p:cNvSpPr/>
          <p:nvPr/>
        </p:nvSpPr>
        <p:spPr>
          <a:xfrm>
            <a:off x="5212080" y="1417320"/>
            <a:ext cx="3474720" cy="36576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What is RAG?</a:t>
            </a:r>
            <a:endParaRPr lang="en-US" sz="1400" dirty="0"/>
          </a:p>
        </p:txBody>
      </p:sp>
      <p:sp>
        <p:nvSpPr>
          <p:cNvPr id="11" name="Text 9"/>
          <p:cNvSpPr/>
          <p:nvPr/>
        </p:nvSpPr>
        <p:spPr>
          <a:xfrm>
            <a:off x="4572000" y="1938528"/>
            <a:ext cx="548640" cy="365760"/>
          </a:xfrm>
          <a:prstGeom prst="rect">
            <a:avLst/>
          </a:prstGeom>
          <a:noFill/>
          <a:ln/>
        </p:spPr>
        <p:txBody>
          <a:bodyPr wrap="square" lIns="0" tIns="0" rIns="0" bIns="0" rtlCol="0" anchor="ctr"/>
          <a:lstStyle/>
          <a:p>
            <a:pPr indent="0" marL="0">
              <a:buNone/>
            </a:pPr>
            <a:r>
              <a:rPr lang="en-US" sz="2000" b="1" dirty="0">
                <a:solidFill>
                  <a:srgbClr val="F97316"/>
                </a:solidFill>
                <a:latin typeface="Georgia" pitchFamily="34" charset="0"/>
                <a:ea typeface="Georgia" pitchFamily="34" charset="-122"/>
                <a:cs typeface="Georgia" pitchFamily="34" charset="-120"/>
              </a:rPr>
              <a:t>02</a:t>
            </a:r>
            <a:endParaRPr lang="en-US" sz="2000" dirty="0"/>
          </a:p>
        </p:txBody>
      </p:sp>
      <p:sp>
        <p:nvSpPr>
          <p:cNvPr id="12" name="Text 10"/>
          <p:cNvSpPr/>
          <p:nvPr/>
        </p:nvSpPr>
        <p:spPr>
          <a:xfrm>
            <a:off x="5212080" y="1984248"/>
            <a:ext cx="3474720" cy="36576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Embeddings &amp; Chunking</a:t>
            </a:r>
            <a:endParaRPr lang="en-US" sz="1400" dirty="0"/>
          </a:p>
        </p:txBody>
      </p:sp>
      <p:sp>
        <p:nvSpPr>
          <p:cNvPr id="13" name="Text 11"/>
          <p:cNvSpPr/>
          <p:nvPr/>
        </p:nvSpPr>
        <p:spPr>
          <a:xfrm>
            <a:off x="4572000" y="2505456"/>
            <a:ext cx="548640" cy="365760"/>
          </a:xfrm>
          <a:prstGeom prst="rect">
            <a:avLst/>
          </a:prstGeom>
          <a:noFill/>
          <a:ln/>
        </p:spPr>
        <p:txBody>
          <a:bodyPr wrap="square" lIns="0" tIns="0" rIns="0" bIns="0" rtlCol="0" anchor="ctr"/>
          <a:lstStyle/>
          <a:p>
            <a:pPr indent="0" marL="0">
              <a:buNone/>
            </a:pPr>
            <a:r>
              <a:rPr lang="en-US" sz="2000" b="1" dirty="0">
                <a:solidFill>
                  <a:srgbClr val="8B5CF6"/>
                </a:solidFill>
                <a:latin typeface="Georgia" pitchFamily="34" charset="0"/>
                <a:ea typeface="Georgia" pitchFamily="34" charset="-122"/>
                <a:cs typeface="Georgia" pitchFamily="34" charset="-120"/>
              </a:rPr>
              <a:t>03</a:t>
            </a:r>
            <a:endParaRPr lang="en-US" sz="2000" dirty="0"/>
          </a:p>
        </p:txBody>
      </p:sp>
      <p:sp>
        <p:nvSpPr>
          <p:cNvPr id="14" name="Text 12"/>
          <p:cNvSpPr/>
          <p:nvPr/>
        </p:nvSpPr>
        <p:spPr>
          <a:xfrm>
            <a:off x="5212080" y="2551176"/>
            <a:ext cx="3474720" cy="36576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Vector Databases</a:t>
            </a:r>
            <a:endParaRPr lang="en-US" sz="1400" dirty="0"/>
          </a:p>
        </p:txBody>
      </p:sp>
      <p:sp>
        <p:nvSpPr>
          <p:cNvPr id="15" name="Text 13"/>
          <p:cNvSpPr/>
          <p:nvPr/>
        </p:nvSpPr>
        <p:spPr>
          <a:xfrm>
            <a:off x="4572000" y="3072384"/>
            <a:ext cx="548640" cy="365760"/>
          </a:xfrm>
          <a:prstGeom prst="rect">
            <a:avLst/>
          </a:prstGeom>
          <a:noFill/>
          <a:ln/>
        </p:spPr>
        <p:txBody>
          <a:bodyPr wrap="square" lIns="0" tIns="0" rIns="0" bIns="0" rtlCol="0" anchor="ctr"/>
          <a:lstStyle/>
          <a:p>
            <a:pPr indent="0" marL="0">
              <a:buNone/>
            </a:pPr>
            <a:r>
              <a:rPr lang="en-US" sz="2000" b="1" dirty="0">
                <a:solidFill>
                  <a:srgbClr val="3B82F6"/>
                </a:solidFill>
                <a:latin typeface="Georgia" pitchFamily="34" charset="0"/>
                <a:ea typeface="Georgia" pitchFamily="34" charset="-122"/>
                <a:cs typeface="Georgia" pitchFamily="34" charset="-120"/>
              </a:rPr>
              <a:t>04</a:t>
            </a:r>
            <a:endParaRPr lang="en-US" sz="2000" dirty="0"/>
          </a:p>
        </p:txBody>
      </p:sp>
      <p:sp>
        <p:nvSpPr>
          <p:cNvPr id="16" name="Text 14"/>
          <p:cNvSpPr/>
          <p:nvPr/>
        </p:nvSpPr>
        <p:spPr>
          <a:xfrm>
            <a:off x="5212080" y="3118104"/>
            <a:ext cx="3474720" cy="36576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RAG Pipeline E2E</a:t>
            </a:r>
            <a:endParaRPr lang="en-US" sz="1400" dirty="0"/>
          </a:p>
        </p:txBody>
      </p:sp>
      <p:sp>
        <p:nvSpPr>
          <p:cNvPr id="17" name="Text 15"/>
          <p:cNvSpPr/>
          <p:nvPr/>
        </p:nvSpPr>
        <p:spPr>
          <a:xfrm>
            <a:off x="4572000" y="3639312"/>
            <a:ext cx="548640" cy="365760"/>
          </a:xfrm>
          <a:prstGeom prst="rect">
            <a:avLst/>
          </a:prstGeom>
          <a:noFill/>
          <a:ln/>
        </p:spPr>
        <p:txBody>
          <a:bodyPr wrap="square" lIns="0" tIns="0" rIns="0" bIns="0" rtlCol="0" anchor="ctr"/>
          <a:lstStyle/>
          <a:p>
            <a:pPr indent="0" marL="0">
              <a:buNone/>
            </a:pPr>
            <a:r>
              <a:rPr lang="en-US" sz="2000" b="1" dirty="0">
                <a:solidFill>
                  <a:srgbClr val="0D9488"/>
                </a:solidFill>
                <a:latin typeface="Georgia" pitchFamily="34" charset="0"/>
                <a:ea typeface="Georgia" pitchFamily="34" charset="-122"/>
                <a:cs typeface="Georgia" pitchFamily="34" charset="-120"/>
              </a:rPr>
              <a:t>05</a:t>
            </a:r>
            <a:endParaRPr lang="en-US" sz="2000" dirty="0"/>
          </a:p>
        </p:txBody>
      </p:sp>
      <p:sp>
        <p:nvSpPr>
          <p:cNvPr id="18" name="Text 16"/>
          <p:cNvSpPr/>
          <p:nvPr/>
        </p:nvSpPr>
        <p:spPr>
          <a:xfrm>
            <a:off x="5212080" y="3685032"/>
            <a:ext cx="3474720" cy="36576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Advanced Retrieval</a:t>
            </a:r>
            <a:endParaRPr lang="en-US" sz="1400" dirty="0"/>
          </a:p>
        </p:txBody>
      </p:sp>
      <p:sp>
        <p:nvSpPr>
          <p:cNvPr id="19" name="Text 17"/>
          <p:cNvSpPr/>
          <p:nvPr/>
        </p:nvSpPr>
        <p:spPr>
          <a:xfrm>
            <a:off x="4572000" y="4206240"/>
            <a:ext cx="548640" cy="365760"/>
          </a:xfrm>
          <a:prstGeom prst="rect">
            <a:avLst/>
          </a:prstGeom>
          <a:noFill/>
          <a:ln/>
        </p:spPr>
        <p:txBody>
          <a:bodyPr wrap="square" lIns="0" tIns="0" rIns="0" bIns="0" rtlCol="0" anchor="ctr"/>
          <a:lstStyle/>
          <a:p>
            <a:pPr indent="0" marL="0">
              <a:buNone/>
            </a:pPr>
            <a:r>
              <a:rPr lang="en-US" sz="2000" b="1" dirty="0">
                <a:solidFill>
                  <a:srgbClr val="F97316"/>
                </a:solidFill>
                <a:latin typeface="Georgia" pitchFamily="34" charset="0"/>
                <a:ea typeface="Georgia" pitchFamily="34" charset="-122"/>
                <a:cs typeface="Georgia" pitchFamily="34" charset="-120"/>
              </a:rPr>
              <a:t>06</a:t>
            </a:r>
            <a:endParaRPr lang="en-US" sz="2000" dirty="0"/>
          </a:p>
        </p:txBody>
      </p:sp>
      <p:sp>
        <p:nvSpPr>
          <p:cNvPr id="20" name="Text 18"/>
          <p:cNvSpPr/>
          <p:nvPr/>
        </p:nvSpPr>
        <p:spPr>
          <a:xfrm>
            <a:off x="5212080" y="4251960"/>
            <a:ext cx="3474720" cy="36576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Evaluation &amp; Production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1E3A5F"/>
                </a:solidFill>
                <a:latin typeface="Georgia" pitchFamily="34" charset="0"/>
                <a:ea typeface="Georgia" pitchFamily="34" charset="-122"/>
                <a:cs typeface="Georgia" pitchFamily="34" charset="-120"/>
              </a:rPr>
              <a:t>Why RAG?</a:t>
            </a:r>
            <a:endParaRPr lang="en-US" sz="2800" dirty="0"/>
          </a:p>
        </p:txBody>
      </p:sp>
      <p:sp>
        <p:nvSpPr>
          <p:cNvPr id="3" name="Text 1"/>
          <p:cNvSpPr/>
          <p:nvPr/>
        </p:nvSpPr>
        <p:spPr>
          <a:xfrm>
            <a:off x="457200" y="914400"/>
            <a:ext cx="8229600" cy="32004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Problems RAG solves over traditional LLMs</a:t>
            </a:r>
            <a:endParaRPr lang="en-US" sz="1300" dirty="0"/>
          </a:p>
        </p:txBody>
      </p:sp>
      <p:sp>
        <p:nvSpPr>
          <p:cNvPr id="4" name="Shape 2"/>
          <p:cNvSpPr/>
          <p:nvPr/>
        </p:nvSpPr>
        <p:spPr>
          <a:xfrm>
            <a:off x="457200" y="1371600"/>
            <a:ext cx="3931920" cy="1554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457200" y="1371600"/>
            <a:ext cx="73152" cy="1554480"/>
          </a:xfrm>
          <a:prstGeom prst="rect">
            <a:avLst/>
          </a:prstGeom>
          <a:solidFill>
            <a:srgbClr val="0D9488"/>
          </a:solidFill>
          <a:ln/>
        </p:spPr>
      </p:sp>
      <p:sp>
        <p:nvSpPr>
          <p:cNvPr id="6" name="Text 4"/>
          <p:cNvSpPr/>
          <p:nvPr/>
        </p:nvSpPr>
        <p:spPr>
          <a:xfrm>
            <a:off x="731520" y="1508760"/>
            <a:ext cx="1371600" cy="548640"/>
          </a:xfrm>
          <a:prstGeom prst="rect">
            <a:avLst/>
          </a:prstGeom>
          <a:noFill/>
          <a:ln/>
        </p:spPr>
        <p:txBody>
          <a:bodyPr wrap="square" lIns="0" tIns="0" rIns="0" bIns="0" rtlCol="0" anchor="ctr"/>
          <a:lstStyle/>
          <a:p>
            <a:pPr indent="0" marL="0">
              <a:buNone/>
            </a:pPr>
            <a:r>
              <a:rPr lang="en-US" sz="2600" b="1" dirty="0">
                <a:solidFill>
                  <a:srgbClr val="1E3A5F"/>
                </a:solidFill>
                <a:latin typeface="Georgia" pitchFamily="34" charset="0"/>
                <a:ea typeface="Georgia" pitchFamily="34" charset="-122"/>
                <a:cs typeface="Georgia" pitchFamily="34" charset="-120"/>
              </a:rPr>
              <a:t>0</a:t>
            </a:r>
            <a:endParaRPr lang="en-US" sz="2600" dirty="0"/>
          </a:p>
        </p:txBody>
      </p:sp>
      <p:sp>
        <p:nvSpPr>
          <p:cNvPr id="7" name="Text 5"/>
          <p:cNvSpPr/>
          <p:nvPr/>
        </p:nvSpPr>
        <p:spPr>
          <a:xfrm>
            <a:off x="2103120" y="1554480"/>
            <a:ext cx="210312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Knowledge Cutoff</a:t>
            </a:r>
            <a:endParaRPr lang="en-US" sz="1400" dirty="0"/>
          </a:p>
        </p:txBody>
      </p:sp>
      <p:sp>
        <p:nvSpPr>
          <p:cNvPr id="8" name="Text 6"/>
          <p:cNvSpPr/>
          <p:nvPr/>
        </p:nvSpPr>
        <p:spPr>
          <a:xfrm>
            <a:off x="731520" y="2194560"/>
            <a:ext cx="347472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Always up-to-date with external data sources</a:t>
            </a:r>
            <a:endParaRPr lang="en-US" sz="1100" dirty="0"/>
          </a:p>
        </p:txBody>
      </p:sp>
      <p:sp>
        <p:nvSpPr>
          <p:cNvPr id="9" name="Shape 7"/>
          <p:cNvSpPr/>
          <p:nvPr/>
        </p:nvSpPr>
        <p:spPr>
          <a:xfrm>
            <a:off x="4663440" y="1371600"/>
            <a:ext cx="3931920" cy="1554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8"/>
          <p:cNvSpPr/>
          <p:nvPr/>
        </p:nvSpPr>
        <p:spPr>
          <a:xfrm>
            <a:off x="4663440" y="1371600"/>
            <a:ext cx="73152" cy="1554480"/>
          </a:xfrm>
          <a:prstGeom prst="rect">
            <a:avLst/>
          </a:prstGeom>
          <a:solidFill>
            <a:srgbClr val="F97316"/>
          </a:solidFill>
          <a:ln/>
        </p:spPr>
      </p:sp>
      <p:sp>
        <p:nvSpPr>
          <p:cNvPr id="11" name="Text 9"/>
          <p:cNvSpPr/>
          <p:nvPr/>
        </p:nvSpPr>
        <p:spPr>
          <a:xfrm>
            <a:off x="4937760" y="1508760"/>
            <a:ext cx="1371600" cy="548640"/>
          </a:xfrm>
          <a:prstGeom prst="rect">
            <a:avLst/>
          </a:prstGeom>
          <a:noFill/>
          <a:ln/>
        </p:spPr>
        <p:txBody>
          <a:bodyPr wrap="square" lIns="0" tIns="0" rIns="0" bIns="0" rtlCol="0" anchor="ctr"/>
          <a:lstStyle/>
          <a:p>
            <a:pPr indent="0" marL="0">
              <a:buNone/>
            </a:pPr>
            <a:r>
              <a:rPr lang="en-US" sz="2600" b="1" dirty="0">
                <a:solidFill>
                  <a:srgbClr val="1E3A5F"/>
                </a:solidFill>
                <a:latin typeface="Georgia" pitchFamily="34" charset="0"/>
                <a:ea typeface="Georgia" pitchFamily="34" charset="-122"/>
                <a:cs typeface="Georgia" pitchFamily="34" charset="-120"/>
              </a:rPr>
              <a:t>↓</a:t>
            </a:r>
            <a:endParaRPr lang="en-US" sz="2600" dirty="0"/>
          </a:p>
        </p:txBody>
      </p:sp>
      <p:sp>
        <p:nvSpPr>
          <p:cNvPr id="12" name="Text 10"/>
          <p:cNvSpPr/>
          <p:nvPr/>
        </p:nvSpPr>
        <p:spPr>
          <a:xfrm>
            <a:off x="6309360" y="1554480"/>
            <a:ext cx="210312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Hallucinations</a:t>
            </a:r>
            <a:endParaRPr lang="en-US" sz="1400" dirty="0"/>
          </a:p>
        </p:txBody>
      </p:sp>
      <p:sp>
        <p:nvSpPr>
          <p:cNvPr id="13" name="Text 11"/>
          <p:cNvSpPr/>
          <p:nvPr/>
        </p:nvSpPr>
        <p:spPr>
          <a:xfrm>
            <a:off x="4937760" y="2194560"/>
            <a:ext cx="347472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Grounded in retrieved facts, not fabricated</a:t>
            </a:r>
            <a:endParaRPr lang="en-US" sz="1100" dirty="0"/>
          </a:p>
        </p:txBody>
      </p:sp>
      <p:sp>
        <p:nvSpPr>
          <p:cNvPr id="14" name="Shape 12"/>
          <p:cNvSpPr/>
          <p:nvPr/>
        </p:nvSpPr>
        <p:spPr>
          <a:xfrm>
            <a:off x="457200" y="3108960"/>
            <a:ext cx="3931920" cy="1554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5" name="Shape 13"/>
          <p:cNvSpPr/>
          <p:nvPr/>
        </p:nvSpPr>
        <p:spPr>
          <a:xfrm>
            <a:off x="457200" y="3108960"/>
            <a:ext cx="73152" cy="1554480"/>
          </a:xfrm>
          <a:prstGeom prst="rect">
            <a:avLst/>
          </a:prstGeom>
          <a:solidFill>
            <a:srgbClr val="8B5CF6"/>
          </a:solidFill>
          <a:ln/>
        </p:spPr>
      </p:sp>
      <p:sp>
        <p:nvSpPr>
          <p:cNvPr id="16" name="Text 14"/>
          <p:cNvSpPr/>
          <p:nvPr/>
        </p:nvSpPr>
        <p:spPr>
          <a:xfrm>
            <a:off x="731520" y="3246120"/>
            <a:ext cx="1371600" cy="548640"/>
          </a:xfrm>
          <a:prstGeom prst="rect">
            <a:avLst/>
          </a:prstGeom>
          <a:noFill/>
          <a:ln/>
        </p:spPr>
        <p:txBody>
          <a:bodyPr wrap="square" lIns="0" tIns="0" rIns="0" bIns="0" rtlCol="0" anchor="ctr"/>
          <a:lstStyle/>
          <a:p>
            <a:pPr indent="0" marL="0">
              <a:buNone/>
            </a:pPr>
            <a:r>
              <a:rPr lang="en-US" sz="2600" b="1" dirty="0">
                <a:solidFill>
                  <a:srgbClr val="1E3A5F"/>
                </a:solidFill>
                <a:latin typeface="Georgia" pitchFamily="34" charset="0"/>
                <a:ea typeface="Georgia" pitchFamily="34" charset="-122"/>
                <a:cs typeface="Georgia" pitchFamily="34" charset="-120"/>
              </a:rPr>
              <a:t>✓</a:t>
            </a:r>
            <a:endParaRPr lang="en-US" sz="2600" dirty="0"/>
          </a:p>
        </p:txBody>
      </p:sp>
      <p:sp>
        <p:nvSpPr>
          <p:cNvPr id="17" name="Text 15"/>
          <p:cNvSpPr/>
          <p:nvPr/>
        </p:nvSpPr>
        <p:spPr>
          <a:xfrm>
            <a:off x="2103120" y="3291840"/>
            <a:ext cx="210312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Source Citations</a:t>
            </a:r>
            <a:endParaRPr lang="en-US" sz="1400" dirty="0"/>
          </a:p>
        </p:txBody>
      </p:sp>
      <p:sp>
        <p:nvSpPr>
          <p:cNvPr id="18" name="Text 16"/>
          <p:cNvSpPr/>
          <p:nvPr/>
        </p:nvSpPr>
        <p:spPr>
          <a:xfrm>
            <a:off x="731520" y="3931920"/>
            <a:ext cx="347472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Can provide references to original documents</a:t>
            </a:r>
            <a:endParaRPr lang="en-US" sz="1100" dirty="0"/>
          </a:p>
        </p:txBody>
      </p:sp>
      <p:sp>
        <p:nvSpPr>
          <p:cNvPr id="19" name="Shape 17"/>
          <p:cNvSpPr/>
          <p:nvPr/>
        </p:nvSpPr>
        <p:spPr>
          <a:xfrm>
            <a:off x="4663440" y="3108960"/>
            <a:ext cx="3931920" cy="1554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0" name="Shape 18"/>
          <p:cNvSpPr/>
          <p:nvPr/>
        </p:nvSpPr>
        <p:spPr>
          <a:xfrm>
            <a:off x="4663440" y="3108960"/>
            <a:ext cx="73152" cy="1554480"/>
          </a:xfrm>
          <a:prstGeom prst="rect">
            <a:avLst/>
          </a:prstGeom>
          <a:solidFill>
            <a:srgbClr val="3B82F6"/>
          </a:solidFill>
          <a:ln/>
        </p:spPr>
      </p:sp>
      <p:sp>
        <p:nvSpPr>
          <p:cNvPr id="21" name="Text 19"/>
          <p:cNvSpPr/>
          <p:nvPr/>
        </p:nvSpPr>
        <p:spPr>
          <a:xfrm>
            <a:off x="4937760" y="3246120"/>
            <a:ext cx="1371600" cy="548640"/>
          </a:xfrm>
          <a:prstGeom prst="rect">
            <a:avLst/>
          </a:prstGeom>
          <a:noFill/>
          <a:ln/>
        </p:spPr>
        <p:txBody>
          <a:bodyPr wrap="square" lIns="0" tIns="0" rIns="0" bIns="0" rtlCol="0" anchor="ctr"/>
          <a:lstStyle/>
          <a:p>
            <a:pPr indent="0" marL="0">
              <a:buNone/>
            </a:pPr>
            <a:r>
              <a:rPr lang="en-US" sz="2600" b="1" dirty="0">
                <a:solidFill>
                  <a:srgbClr val="1E3A5F"/>
                </a:solidFill>
                <a:latin typeface="Georgia" pitchFamily="34" charset="0"/>
                <a:ea typeface="Georgia" pitchFamily="34" charset="-122"/>
                <a:cs typeface="Georgia" pitchFamily="34" charset="-120"/>
              </a:rPr>
              <a:t>🔒</a:t>
            </a:r>
            <a:endParaRPr lang="en-US" sz="2600" dirty="0"/>
          </a:p>
        </p:txBody>
      </p:sp>
      <p:sp>
        <p:nvSpPr>
          <p:cNvPr id="22" name="Text 20"/>
          <p:cNvSpPr/>
          <p:nvPr/>
        </p:nvSpPr>
        <p:spPr>
          <a:xfrm>
            <a:off x="6309360" y="3291840"/>
            <a:ext cx="210312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Data Privacy</a:t>
            </a:r>
            <a:endParaRPr lang="en-US" sz="1400" dirty="0"/>
          </a:p>
        </p:txBody>
      </p:sp>
      <p:sp>
        <p:nvSpPr>
          <p:cNvPr id="23" name="Text 21"/>
          <p:cNvSpPr/>
          <p:nvPr/>
        </p:nvSpPr>
        <p:spPr>
          <a:xfrm>
            <a:off x="4937760" y="3931920"/>
            <a:ext cx="347472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Keep sensitive data in-house, not in training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1E3A5F"/>
                </a:solidFill>
                <a:latin typeface="Georgia" pitchFamily="34" charset="0"/>
                <a:ea typeface="Georgia" pitchFamily="34" charset="-122"/>
                <a:cs typeface="Georgia" pitchFamily="34" charset="-120"/>
              </a:rPr>
              <a:t>Embeddings &amp; Models</a:t>
            </a:r>
            <a:endParaRPr lang="en-US" sz="2800" dirty="0"/>
          </a:p>
        </p:txBody>
      </p:sp>
      <p:sp>
        <p:nvSpPr>
          <p:cNvPr id="3" name="Shape 1"/>
          <p:cNvSpPr/>
          <p:nvPr/>
        </p:nvSpPr>
        <p:spPr>
          <a:xfrm>
            <a:off x="457200" y="1097280"/>
            <a:ext cx="393192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4" name="Shape 2"/>
          <p:cNvSpPr/>
          <p:nvPr/>
        </p:nvSpPr>
        <p:spPr>
          <a:xfrm>
            <a:off x="640080" y="1280160"/>
            <a:ext cx="502920" cy="502920"/>
          </a:xfrm>
          <a:prstGeom prst="ellipse">
            <a:avLst/>
          </a:prstGeom>
          <a:solidFill>
            <a:srgbClr val="0D9488">
              <a:alpha val="85000"/>
            </a:srgbClr>
          </a:solidFill>
          <a:ln/>
        </p:spPr>
      </p:sp>
      <p:sp>
        <p:nvSpPr>
          <p:cNvPr id="5" name="Text 3"/>
          <p:cNvSpPr/>
          <p:nvPr/>
        </p:nvSpPr>
        <p:spPr>
          <a:xfrm>
            <a:off x="640080" y="1298448"/>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S</a:t>
            </a:r>
            <a:endParaRPr lang="en-US" sz="1800" dirty="0"/>
          </a:p>
        </p:txBody>
      </p:sp>
      <p:sp>
        <p:nvSpPr>
          <p:cNvPr id="6" name="Text 4"/>
          <p:cNvSpPr/>
          <p:nvPr/>
        </p:nvSpPr>
        <p:spPr>
          <a:xfrm>
            <a:off x="1280160" y="1325880"/>
            <a:ext cx="292608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text-embedding-3-small</a:t>
            </a:r>
            <a:endParaRPr lang="en-US" sz="1500" dirty="0"/>
          </a:p>
        </p:txBody>
      </p:sp>
      <p:sp>
        <p:nvSpPr>
          <p:cNvPr id="7" name="Text 5"/>
          <p:cNvSpPr/>
          <p:nvPr/>
        </p:nvSpPr>
        <p:spPr>
          <a:xfrm>
            <a:off x="640080" y="1920240"/>
            <a:ext cx="3566160" cy="7315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1536 dims, 8191 tokens. General purpose, cost-effective. Best starting point.</a:t>
            </a:r>
            <a:endParaRPr lang="en-US" sz="1100" dirty="0"/>
          </a:p>
        </p:txBody>
      </p:sp>
      <p:sp>
        <p:nvSpPr>
          <p:cNvPr id="8" name="Shape 6"/>
          <p:cNvSpPr/>
          <p:nvPr/>
        </p:nvSpPr>
        <p:spPr>
          <a:xfrm>
            <a:off x="4663440" y="1097280"/>
            <a:ext cx="393192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9" name="Shape 7"/>
          <p:cNvSpPr/>
          <p:nvPr/>
        </p:nvSpPr>
        <p:spPr>
          <a:xfrm>
            <a:off x="4846320" y="1280160"/>
            <a:ext cx="502920" cy="502920"/>
          </a:xfrm>
          <a:prstGeom prst="ellipse">
            <a:avLst/>
          </a:prstGeom>
          <a:solidFill>
            <a:srgbClr val="F97316">
              <a:alpha val="85000"/>
            </a:srgbClr>
          </a:solidFill>
          <a:ln/>
        </p:spPr>
      </p:sp>
      <p:sp>
        <p:nvSpPr>
          <p:cNvPr id="10" name="Text 8"/>
          <p:cNvSpPr/>
          <p:nvPr/>
        </p:nvSpPr>
        <p:spPr>
          <a:xfrm>
            <a:off x="4846320" y="1298448"/>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L</a:t>
            </a:r>
            <a:endParaRPr lang="en-US" sz="1800" dirty="0"/>
          </a:p>
        </p:txBody>
      </p:sp>
      <p:sp>
        <p:nvSpPr>
          <p:cNvPr id="11" name="Text 9"/>
          <p:cNvSpPr/>
          <p:nvPr/>
        </p:nvSpPr>
        <p:spPr>
          <a:xfrm>
            <a:off x="5486400" y="1325880"/>
            <a:ext cx="292608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text-embedding-3-large</a:t>
            </a:r>
            <a:endParaRPr lang="en-US" sz="1500" dirty="0"/>
          </a:p>
        </p:txBody>
      </p:sp>
      <p:sp>
        <p:nvSpPr>
          <p:cNvPr id="12" name="Text 10"/>
          <p:cNvSpPr/>
          <p:nvPr/>
        </p:nvSpPr>
        <p:spPr>
          <a:xfrm>
            <a:off x="4846320" y="1920240"/>
            <a:ext cx="3566160" cy="7315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3072 dims, 8191 tokens. Higher accuracy for complex retrieval tasks.</a:t>
            </a:r>
            <a:endParaRPr lang="en-US" sz="1100" dirty="0"/>
          </a:p>
        </p:txBody>
      </p:sp>
      <p:sp>
        <p:nvSpPr>
          <p:cNvPr id="13" name="Shape 11"/>
          <p:cNvSpPr/>
          <p:nvPr/>
        </p:nvSpPr>
        <p:spPr>
          <a:xfrm>
            <a:off x="457200" y="3017520"/>
            <a:ext cx="393192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4" name="Shape 12"/>
          <p:cNvSpPr/>
          <p:nvPr/>
        </p:nvSpPr>
        <p:spPr>
          <a:xfrm>
            <a:off x="640080" y="3200400"/>
            <a:ext cx="502920" cy="502920"/>
          </a:xfrm>
          <a:prstGeom prst="ellipse">
            <a:avLst/>
          </a:prstGeom>
          <a:solidFill>
            <a:srgbClr val="8B5CF6">
              <a:alpha val="85000"/>
            </a:srgbClr>
          </a:solidFill>
          <a:ln/>
        </p:spPr>
      </p:sp>
      <p:sp>
        <p:nvSpPr>
          <p:cNvPr id="15" name="Text 13"/>
          <p:cNvSpPr/>
          <p:nvPr/>
        </p:nvSpPr>
        <p:spPr>
          <a:xfrm>
            <a:off x="640080" y="3218688"/>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O</a:t>
            </a:r>
            <a:endParaRPr lang="en-US" sz="1800" dirty="0"/>
          </a:p>
        </p:txBody>
      </p:sp>
      <p:sp>
        <p:nvSpPr>
          <p:cNvPr id="16" name="Text 14"/>
          <p:cNvSpPr/>
          <p:nvPr/>
        </p:nvSpPr>
        <p:spPr>
          <a:xfrm>
            <a:off x="1280160" y="3246120"/>
            <a:ext cx="292608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Open Source Options</a:t>
            </a:r>
            <a:endParaRPr lang="en-US" sz="1500" dirty="0"/>
          </a:p>
        </p:txBody>
      </p:sp>
      <p:sp>
        <p:nvSpPr>
          <p:cNvPr id="17" name="Text 15"/>
          <p:cNvSpPr/>
          <p:nvPr/>
        </p:nvSpPr>
        <p:spPr>
          <a:xfrm>
            <a:off x="640080" y="3840480"/>
            <a:ext cx="3566160" cy="7315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BGE-large, E5-large, nomic-embed-text. Self-hosted, no API costs.</a:t>
            </a:r>
            <a:endParaRPr lang="en-US" sz="1100" dirty="0"/>
          </a:p>
        </p:txBody>
      </p:sp>
      <p:sp>
        <p:nvSpPr>
          <p:cNvPr id="18" name="Shape 16"/>
          <p:cNvSpPr/>
          <p:nvPr/>
        </p:nvSpPr>
        <p:spPr>
          <a:xfrm>
            <a:off x="4663440" y="3017520"/>
            <a:ext cx="393192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9" name="Shape 17"/>
          <p:cNvSpPr/>
          <p:nvPr/>
        </p:nvSpPr>
        <p:spPr>
          <a:xfrm>
            <a:off x="4846320" y="3200400"/>
            <a:ext cx="502920" cy="502920"/>
          </a:xfrm>
          <a:prstGeom prst="ellipse">
            <a:avLst/>
          </a:prstGeom>
          <a:solidFill>
            <a:srgbClr val="3B82F6">
              <a:alpha val="85000"/>
            </a:srgbClr>
          </a:solidFill>
          <a:ln/>
        </p:spPr>
      </p:sp>
      <p:sp>
        <p:nvSpPr>
          <p:cNvPr id="20" name="Text 18"/>
          <p:cNvSpPr/>
          <p:nvPr/>
        </p:nvSpPr>
        <p:spPr>
          <a:xfrm>
            <a:off x="4846320" y="3218688"/>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C</a:t>
            </a:r>
            <a:endParaRPr lang="en-US" sz="1800" dirty="0"/>
          </a:p>
        </p:txBody>
      </p:sp>
      <p:sp>
        <p:nvSpPr>
          <p:cNvPr id="21" name="Text 19"/>
          <p:cNvSpPr/>
          <p:nvPr/>
        </p:nvSpPr>
        <p:spPr>
          <a:xfrm>
            <a:off x="5486400" y="3246120"/>
            <a:ext cx="292608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Cosine Similarity</a:t>
            </a:r>
            <a:endParaRPr lang="en-US" sz="1500" dirty="0"/>
          </a:p>
        </p:txBody>
      </p:sp>
      <p:sp>
        <p:nvSpPr>
          <p:cNvPr id="22" name="Text 20"/>
          <p:cNvSpPr/>
          <p:nvPr/>
        </p:nvSpPr>
        <p:spPr>
          <a:xfrm>
            <a:off x="4846320" y="3840480"/>
            <a:ext cx="3566160" cy="7315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Measures semantic closeness. Similar texts → vectors close in space.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1E3A5F"/>
                </a:solidFill>
                <a:latin typeface="Georgia" pitchFamily="34" charset="0"/>
                <a:ea typeface="Georgia" pitchFamily="34" charset="-122"/>
                <a:cs typeface="Georgia" pitchFamily="34" charset="-120"/>
              </a:rPr>
              <a:t>Chunking Strategies</a:t>
            </a:r>
            <a:endParaRPr lang="en-US" sz="2800" dirty="0"/>
          </a:p>
        </p:txBody>
      </p:sp>
      <p:sp>
        <p:nvSpPr>
          <p:cNvPr id="3" name="Shape 1"/>
          <p:cNvSpPr/>
          <p:nvPr/>
        </p:nvSpPr>
        <p:spPr>
          <a:xfrm>
            <a:off x="457200" y="1097280"/>
            <a:ext cx="393192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4" name="Shape 2"/>
          <p:cNvSpPr/>
          <p:nvPr/>
        </p:nvSpPr>
        <p:spPr>
          <a:xfrm>
            <a:off x="640080" y="1280160"/>
            <a:ext cx="502920" cy="502920"/>
          </a:xfrm>
          <a:prstGeom prst="ellipse">
            <a:avLst/>
          </a:prstGeom>
          <a:solidFill>
            <a:srgbClr val="0D9488">
              <a:alpha val="85000"/>
            </a:srgbClr>
          </a:solidFill>
          <a:ln/>
        </p:spPr>
      </p:sp>
      <p:sp>
        <p:nvSpPr>
          <p:cNvPr id="5" name="Text 3"/>
          <p:cNvSpPr/>
          <p:nvPr/>
        </p:nvSpPr>
        <p:spPr>
          <a:xfrm>
            <a:off x="640080" y="1298448"/>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F</a:t>
            </a:r>
            <a:endParaRPr lang="en-US" sz="1800" dirty="0"/>
          </a:p>
        </p:txBody>
      </p:sp>
      <p:sp>
        <p:nvSpPr>
          <p:cNvPr id="6" name="Text 4"/>
          <p:cNvSpPr/>
          <p:nvPr/>
        </p:nvSpPr>
        <p:spPr>
          <a:xfrm>
            <a:off x="1280160" y="1325880"/>
            <a:ext cx="292608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Fixed-Size</a:t>
            </a:r>
            <a:endParaRPr lang="en-US" sz="1500" dirty="0"/>
          </a:p>
        </p:txBody>
      </p:sp>
      <p:sp>
        <p:nvSpPr>
          <p:cNvPr id="7" name="Text 5"/>
          <p:cNvSpPr/>
          <p:nvPr/>
        </p:nvSpPr>
        <p:spPr>
          <a:xfrm>
            <a:off x="640080" y="1920240"/>
            <a:ext cx="3566160" cy="7315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200-500 tokens, 10-20% overlap. Simple, fast. Best for uniform documents.</a:t>
            </a:r>
            <a:endParaRPr lang="en-US" sz="1100" dirty="0"/>
          </a:p>
        </p:txBody>
      </p:sp>
      <p:sp>
        <p:nvSpPr>
          <p:cNvPr id="8" name="Shape 6"/>
          <p:cNvSpPr/>
          <p:nvPr/>
        </p:nvSpPr>
        <p:spPr>
          <a:xfrm>
            <a:off x="4663440" y="1097280"/>
            <a:ext cx="393192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9" name="Shape 7"/>
          <p:cNvSpPr/>
          <p:nvPr/>
        </p:nvSpPr>
        <p:spPr>
          <a:xfrm>
            <a:off x="4846320" y="1280160"/>
            <a:ext cx="502920" cy="502920"/>
          </a:xfrm>
          <a:prstGeom prst="ellipse">
            <a:avLst/>
          </a:prstGeom>
          <a:solidFill>
            <a:srgbClr val="F97316">
              <a:alpha val="85000"/>
            </a:srgbClr>
          </a:solidFill>
          <a:ln/>
        </p:spPr>
      </p:sp>
      <p:sp>
        <p:nvSpPr>
          <p:cNvPr id="10" name="Text 8"/>
          <p:cNvSpPr/>
          <p:nvPr/>
        </p:nvSpPr>
        <p:spPr>
          <a:xfrm>
            <a:off x="4846320" y="1298448"/>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R</a:t>
            </a:r>
            <a:endParaRPr lang="en-US" sz="1800" dirty="0"/>
          </a:p>
        </p:txBody>
      </p:sp>
      <p:sp>
        <p:nvSpPr>
          <p:cNvPr id="11" name="Text 9"/>
          <p:cNvSpPr/>
          <p:nvPr/>
        </p:nvSpPr>
        <p:spPr>
          <a:xfrm>
            <a:off x="5486400" y="1325880"/>
            <a:ext cx="292608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Recursive Character</a:t>
            </a:r>
            <a:endParaRPr lang="en-US" sz="1500" dirty="0"/>
          </a:p>
        </p:txBody>
      </p:sp>
      <p:sp>
        <p:nvSpPr>
          <p:cNvPr id="12" name="Text 10"/>
          <p:cNvSpPr/>
          <p:nvPr/>
        </p:nvSpPr>
        <p:spPr>
          <a:xfrm>
            <a:off x="4846320" y="1920240"/>
            <a:ext cx="3566160" cy="7315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Splits on \n\n, \n, ., space. Preserves structure. Best for mixed content.</a:t>
            </a:r>
            <a:endParaRPr lang="en-US" sz="1100" dirty="0"/>
          </a:p>
        </p:txBody>
      </p:sp>
      <p:sp>
        <p:nvSpPr>
          <p:cNvPr id="13" name="Shape 11"/>
          <p:cNvSpPr/>
          <p:nvPr/>
        </p:nvSpPr>
        <p:spPr>
          <a:xfrm>
            <a:off x="457200" y="3017520"/>
            <a:ext cx="393192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4" name="Shape 12"/>
          <p:cNvSpPr/>
          <p:nvPr/>
        </p:nvSpPr>
        <p:spPr>
          <a:xfrm>
            <a:off x="640080" y="3200400"/>
            <a:ext cx="502920" cy="502920"/>
          </a:xfrm>
          <a:prstGeom prst="ellipse">
            <a:avLst/>
          </a:prstGeom>
          <a:solidFill>
            <a:srgbClr val="8B5CF6">
              <a:alpha val="85000"/>
            </a:srgbClr>
          </a:solidFill>
          <a:ln/>
        </p:spPr>
      </p:sp>
      <p:sp>
        <p:nvSpPr>
          <p:cNvPr id="15" name="Text 13"/>
          <p:cNvSpPr/>
          <p:nvPr/>
        </p:nvSpPr>
        <p:spPr>
          <a:xfrm>
            <a:off x="640080" y="3218688"/>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S</a:t>
            </a:r>
            <a:endParaRPr lang="en-US" sz="1800" dirty="0"/>
          </a:p>
        </p:txBody>
      </p:sp>
      <p:sp>
        <p:nvSpPr>
          <p:cNvPr id="16" name="Text 14"/>
          <p:cNvSpPr/>
          <p:nvPr/>
        </p:nvSpPr>
        <p:spPr>
          <a:xfrm>
            <a:off x="1280160" y="3246120"/>
            <a:ext cx="292608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Semantic Chunking</a:t>
            </a:r>
            <a:endParaRPr lang="en-US" sz="1500" dirty="0"/>
          </a:p>
        </p:txBody>
      </p:sp>
      <p:sp>
        <p:nvSpPr>
          <p:cNvPr id="17" name="Text 15"/>
          <p:cNvSpPr/>
          <p:nvPr/>
        </p:nvSpPr>
        <p:spPr>
          <a:xfrm>
            <a:off x="640080" y="3840480"/>
            <a:ext cx="3566160" cy="7315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Splits at semantic breakpoints. Best for complex reasoning tasks.</a:t>
            </a:r>
            <a:endParaRPr lang="en-US" sz="1100" dirty="0"/>
          </a:p>
        </p:txBody>
      </p:sp>
      <p:sp>
        <p:nvSpPr>
          <p:cNvPr id="18" name="Shape 16"/>
          <p:cNvSpPr/>
          <p:nvPr/>
        </p:nvSpPr>
        <p:spPr>
          <a:xfrm>
            <a:off x="4663440" y="3017520"/>
            <a:ext cx="393192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9" name="Shape 17"/>
          <p:cNvSpPr/>
          <p:nvPr/>
        </p:nvSpPr>
        <p:spPr>
          <a:xfrm>
            <a:off x="4846320" y="3200400"/>
            <a:ext cx="502920" cy="502920"/>
          </a:xfrm>
          <a:prstGeom prst="ellipse">
            <a:avLst/>
          </a:prstGeom>
          <a:solidFill>
            <a:srgbClr val="3B82F6">
              <a:alpha val="85000"/>
            </a:srgbClr>
          </a:solidFill>
          <a:ln/>
        </p:spPr>
      </p:sp>
      <p:sp>
        <p:nvSpPr>
          <p:cNvPr id="20" name="Text 18"/>
          <p:cNvSpPr/>
          <p:nvPr/>
        </p:nvSpPr>
        <p:spPr>
          <a:xfrm>
            <a:off x="4846320" y="3218688"/>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D</a:t>
            </a:r>
            <a:endParaRPr lang="en-US" sz="1800" dirty="0"/>
          </a:p>
        </p:txBody>
      </p:sp>
      <p:sp>
        <p:nvSpPr>
          <p:cNvPr id="21" name="Text 19"/>
          <p:cNvSpPr/>
          <p:nvPr/>
        </p:nvSpPr>
        <p:spPr>
          <a:xfrm>
            <a:off x="5486400" y="3246120"/>
            <a:ext cx="292608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Document-Specific</a:t>
            </a:r>
            <a:endParaRPr lang="en-US" sz="1500" dirty="0"/>
          </a:p>
        </p:txBody>
      </p:sp>
      <p:sp>
        <p:nvSpPr>
          <p:cNvPr id="22" name="Text 20"/>
          <p:cNvSpPr/>
          <p:nvPr/>
        </p:nvSpPr>
        <p:spPr>
          <a:xfrm>
            <a:off x="4846320" y="3840480"/>
            <a:ext cx="3566160" cy="7315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Code-aware, markdown-aware. Preserves domain structure.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600" b="1" dirty="0">
                <a:solidFill>
                  <a:srgbClr val="1E3A5F"/>
                </a:solidFill>
                <a:latin typeface="Georgia" pitchFamily="34" charset="0"/>
                <a:ea typeface="Georgia" pitchFamily="34" charset="-122"/>
                <a:cs typeface="Georgia" pitchFamily="34" charset="-120"/>
              </a:rPr>
              <a:t>Vector Database Comparison</a:t>
            </a:r>
            <a:endParaRPr lang="en-US" sz="2600" dirty="0"/>
          </a:p>
        </p:txBody>
      </p:sp>
      <p:sp>
        <p:nvSpPr>
          <p:cNvPr id="3" name="Shape 1"/>
          <p:cNvSpPr/>
          <p:nvPr/>
        </p:nvSpPr>
        <p:spPr>
          <a:xfrm>
            <a:off x="457200" y="1097280"/>
            <a:ext cx="3931920" cy="3657600"/>
          </a:xfrm>
          <a:prstGeom prst="rect">
            <a:avLst/>
          </a:prstGeom>
          <a:solidFill>
            <a:srgbClr val="F0FDFA"/>
          </a:solidFill>
          <a:ln/>
          <a:effectLst>
            <a:outerShdw sx="100000" sy="100000" kx="0" ky="0" algn="bl" rotWithShape="0" blurRad="76200" dist="25400" dir="8100000">
              <a:srgbClr val="000000">
                <a:alpha val="8000"/>
              </a:srgbClr>
            </a:outerShdw>
          </a:effectLst>
        </p:spPr>
      </p:sp>
      <p:sp>
        <p:nvSpPr>
          <p:cNvPr id="4" name="Shape 2"/>
          <p:cNvSpPr/>
          <p:nvPr/>
        </p:nvSpPr>
        <p:spPr>
          <a:xfrm>
            <a:off x="457200" y="1097280"/>
            <a:ext cx="3931920" cy="457200"/>
          </a:xfrm>
          <a:prstGeom prst="rect">
            <a:avLst/>
          </a:prstGeom>
          <a:solidFill>
            <a:srgbClr val="0D9488"/>
          </a:solidFill>
          <a:ln/>
        </p:spPr>
      </p:sp>
      <p:sp>
        <p:nvSpPr>
          <p:cNvPr id="5" name="Text 3"/>
          <p:cNvSpPr/>
          <p:nvPr/>
        </p:nvSpPr>
        <p:spPr>
          <a:xfrm>
            <a:off x="457200" y="1143000"/>
            <a:ext cx="39319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CLOUD / MANAGED</a:t>
            </a:r>
            <a:endParaRPr lang="en-US" sz="1400" dirty="0"/>
          </a:p>
        </p:txBody>
      </p:sp>
      <p:sp>
        <p:nvSpPr>
          <p:cNvPr id="6" name="Text 4"/>
          <p:cNvSpPr/>
          <p:nvPr/>
        </p:nvSpPr>
        <p:spPr>
          <a:xfrm>
            <a:off x="640080" y="1737360"/>
            <a:ext cx="3566160" cy="2743200"/>
          </a:xfrm>
          <a:prstGeom prst="rect">
            <a:avLst/>
          </a:prstGeom>
          <a:noFill/>
          <a:ln/>
        </p:spPr>
        <p:txBody>
          <a:bodyPr wrap="square" lIns="0" tIns="0" rIns="0" bIns="0" rtlCol="0" anchor="t"/>
          <a:lstStyle/>
          <a:p>
            <a:pPr indent="0" marL="0">
              <a:buNone/>
            </a:pPr>
            <a:r>
              <a:rPr lang="en-US" sz="1300" b="1" dirty="0">
                <a:solidFill>
                  <a:srgbClr val="1E293B"/>
                </a:solidFill>
                <a:latin typeface="Calibri" pitchFamily="34" charset="0"/>
                <a:ea typeface="Calibri" pitchFamily="34" charset="-122"/>
                <a:cs typeface="Calibri" pitchFamily="34" charset="-120"/>
              </a:rPr>
              <a:t>Pinecone</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Billions of vectors, serverless</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Best for: Production at scale</a:t>
            </a:r>
            <a:endParaRPr lang="en-US" sz="1300" dirty="0"/>
          </a:p>
          <a:p>
            <a:pPr indent="0" marL="0">
              <a:buNone/>
            </a:pPr>
            <a:endParaRPr lang="en-US" sz="1300" dirty="0"/>
          </a:p>
          <a:p>
            <a:pPr indent="0" marL="0">
              <a:buNone/>
            </a:pPr>
            <a:r>
              <a:rPr lang="en-US" sz="1300" b="1" dirty="0">
                <a:solidFill>
                  <a:srgbClr val="1E293B"/>
                </a:solidFill>
                <a:latin typeface="Calibri" pitchFamily="34" charset="0"/>
                <a:ea typeface="Calibri" pitchFamily="34" charset="-122"/>
                <a:cs typeface="Calibri" pitchFamily="34" charset="-120"/>
              </a:rPr>
              <a:t>Weaviate</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Cloud or self-hosted</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Hybrid search (keyword + vector)</a:t>
            </a:r>
            <a:endParaRPr lang="en-US" sz="1300" dirty="0"/>
          </a:p>
        </p:txBody>
      </p:sp>
      <p:sp>
        <p:nvSpPr>
          <p:cNvPr id="7" name="Shape 5"/>
          <p:cNvSpPr/>
          <p:nvPr/>
        </p:nvSpPr>
        <p:spPr>
          <a:xfrm>
            <a:off x="4754880" y="1097280"/>
            <a:ext cx="3931920" cy="3657600"/>
          </a:xfrm>
          <a:prstGeom prst="rect">
            <a:avLst/>
          </a:prstGeom>
          <a:solidFill>
            <a:srgbClr val="FFF7ED"/>
          </a:solidFill>
          <a:ln/>
          <a:effectLst>
            <a:outerShdw sx="100000" sy="100000" kx="0" ky="0" algn="bl" rotWithShape="0" blurRad="76200" dist="25400" dir="8100000">
              <a:srgbClr val="000000">
                <a:alpha val="8000"/>
              </a:srgbClr>
            </a:outerShdw>
          </a:effectLst>
        </p:spPr>
      </p:sp>
      <p:sp>
        <p:nvSpPr>
          <p:cNvPr id="8" name="Shape 6"/>
          <p:cNvSpPr/>
          <p:nvPr/>
        </p:nvSpPr>
        <p:spPr>
          <a:xfrm>
            <a:off x="4754880" y="1097280"/>
            <a:ext cx="3931920" cy="457200"/>
          </a:xfrm>
          <a:prstGeom prst="rect">
            <a:avLst/>
          </a:prstGeom>
          <a:solidFill>
            <a:srgbClr val="F97316"/>
          </a:solidFill>
          <a:ln/>
        </p:spPr>
      </p:sp>
      <p:sp>
        <p:nvSpPr>
          <p:cNvPr id="9" name="Text 7"/>
          <p:cNvSpPr/>
          <p:nvPr/>
        </p:nvSpPr>
        <p:spPr>
          <a:xfrm>
            <a:off x="4754880" y="1143000"/>
            <a:ext cx="39319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LOCAL / OPEN SOURCE</a:t>
            </a:r>
            <a:endParaRPr lang="en-US" sz="1400" dirty="0"/>
          </a:p>
        </p:txBody>
      </p:sp>
      <p:sp>
        <p:nvSpPr>
          <p:cNvPr id="10" name="Text 8"/>
          <p:cNvSpPr/>
          <p:nvPr/>
        </p:nvSpPr>
        <p:spPr>
          <a:xfrm>
            <a:off x="4937760" y="1737360"/>
            <a:ext cx="3566160" cy="2743200"/>
          </a:xfrm>
          <a:prstGeom prst="rect">
            <a:avLst/>
          </a:prstGeom>
          <a:noFill/>
          <a:ln/>
        </p:spPr>
        <p:txBody>
          <a:bodyPr wrap="square" lIns="0" tIns="0" rIns="0" bIns="0" rtlCol="0" anchor="t"/>
          <a:lstStyle/>
          <a:p>
            <a:pPr indent="0" marL="0">
              <a:buNone/>
            </a:pPr>
            <a:r>
              <a:rPr lang="en-US" sz="1300" b="1" dirty="0">
                <a:solidFill>
                  <a:srgbClr val="1E293B"/>
                </a:solidFill>
                <a:latin typeface="Calibri" pitchFamily="34" charset="0"/>
                <a:ea typeface="Calibri" pitchFamily="34" charset="-122"/>
                <a:cs typeface="Calibri" pitchFamily="34" charset="-120"/>
              </a:rPr>
              <a:t>Chroma</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Local development, lightweight</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Best for: Prototyping</a:t>
            </a:r>
            <a:endParaRPr lang="en-US" sz="1300" dirty="0"/>
          </a:p>
          <a:p>
            <a:pPr indent="0" marL="0">
              <a:buNone/>
            </a:pPr>
            <a:endParaRPr lang="en-US" sz="1300" dirty="0"/>
          </a:p>
          <a:p>
            <a:pPr indent="0" marL="0">
              <a:buNone/>
            </a:pPr>
            <a:r>
              <a:rPr lang="en-US" sz="1300" b="1" dirty="0">
                <a:solidFill>
                  <a:srgbClr val="1E293B"/>
                </a:solidFill>
                <a:latin typeface="Calibri" pitchFamily="34" charset="0"/>
                <a:ea typeface="Calibri" pitchFamily="34" charset="-122"/>
                <a:cs typeface="Calibri" pitchFamily="34" charset="-120"/>
              </a:rPr>
              <a:t>FAISS</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Facebook's library, in-memory</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Best for: Research, millions of vectors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RAG Pipeline Architecture</a:t>
            </a:r>
            <a:endParaRPr lang="en-US" sz="2800" dirty="0"/>
          </a:p>
        </p:txBody>
      </p:sp>
      <p:sp>
        <p:nvSpPr>
          <p:cNvPr id="3" name="Shape 1"/>
          <p:cNvSpPr/>
          <p:nvPr/>
        </p:nvSpPr>
        <p:spPr>
          <a:xfrm>
            <a:off x="731520" y="2286000"/>
            <a:ext cx="7680960" cy="54864"/>
          </a:xfrm>
          <a:prstGeom prst="rect">
            <a:avLst/>
          </a:prstGeom>
          <a:solidFill>
            <a:srgbClr val="0D9488"/>
          </a:solidFill>
          <a:ln/>
        </p:spPr>
      </p:sp>
      <p:sp>
        <p:nvSpPr>
          <p:cNvPr id="4" name="Shape 2"/>
          <p:cNvSpPr/>
          <p:nvPr/>
        </p:nvSpPr>
        <p:spPr>
          <a:xfrm>
            <a:off x="640080" y="1920240"/>
            <a:ext cx="822960" cy="822960"/>
          </a:xfrm>
          <a:prstGeom prst="ellipse">
            <a:avLst/>
          </a:prstGeom>
          <a:solidFill>
            <a:srgbClr val="0D9488"/>
          </a:solidFill>
          <a:ln/>
        </p:spPr>
      </p:sp>
      <p:sp>
        <p:nvSpPr>
          <p:cNvPr id="5" name="Text 3"/>
          <p:cNvSpPr/>
          <p:nvPr/>
        </p:nvSpPr>
        <p:spPr>
          <a:xfrm>
            <a:off x="640080" y="1965960"/>
            <a:ext cx="822960" cy="7772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6" name="Text 4"/>
          <p:cNvSpPr/>
          <p:nvPr/>
        </p:nvSpPr>
        <p:spPr>
          <a:xfrm>
            <a:off x="274320" y="2926080"/>
            <a:ext cx="164592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Ingest</a:t>
            </a:r>
            <a:endParaRPr lang="en-US" sz="1300" dirty="0"/>
          </a:p>
        </p:txBody>
      </p:sp>
      <p:sp>
        <p:nvSpPr>
          <p:cNvPr id="7" name="Text 5"/>
          <p:cNvSpPr/>
          <p:nvPr/>
        </p:nvSpPr>
        <p:spPr>
          <a:xfrm>
            <a:off x="274320" y="3246120"/>
            <a:ext cx="1645920" cy="36576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Load &amp; chunk docs</a:t>
            </a:r>
            <a:endParaRPr lang="en-US" sz="1000" dirty="0"/>
          </a:p>
        </p:txBody>
      </p:sp>
      <p:sp>
        <p:nvSpPr>
          <p:cNvPr id="8" name="Shape 6"/>
          <p:cNvSpPr/>
          <p:nvPr/>
        </p:nvSpPr>
        <p:spPr>
          <a:xfrm>
            <a:off x="365760" y="3840480"/>
            <a:ext cx="1463040" cy="822960"/>
          </a:xfrm>
          <a:prstGeom prst="rect">
            <a:avLst/>
          </a:prstGeom>
          <a:solidFill>
            <a:srgbClr val="2D4A6F"/>
          </a:solidFill>
          <a:ln/>
        </p:spPr>
      </p:sp>
      <p:sp>
        <p:nvSpPr>
          <p:cNvPr id="9" name="Text 7"/>
          <p:cNvSpPr/>
          <p:nvPr/>
        </p:nvSpPr>
        <p:spPr>
          <a:xfrm>
            <a:off x="457200" y="3931920"/>
            <a:ext cx="1280160" cy="640080"/>
          </a:xfrm>
          <a:prstGeom prst="rect">
            <a:avLst/>
          </a:prstGeom>
          <a:noFill/>
          <a:ln/>
        </p:spPr>
        <p:txBody>
          <a:bodyPr wrap="square"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PDF, HTML, Markdown</a:t>
            </a:r>
            <a:endParaRPr lang="en-US" sz="900" dirty="0"/>
          </a:p>
        </p:txBody>
      </p:sp>
      <p:sp>
        <p:nvSpPr>
          <p:cNvPr id="10" name="Shape 8"/>
          <p:cNvSpPr/>
          <p:nvPr/>
        </p:nvSpPr>
        <p:spPr>
          <a:xfrm>
            <a:off x="2176272" y="1920240"/>
            <a:ext cx="822960" cy="822960"/>
          </a:xfrm>
          <a:prstGeom prst="ellipse">
            <a:avLst/>
          </a:prstGeom>
          <a:solidFill>
            <a:srgbClr val="F97316"/>
          </a:solidFill>
          <a:ln/>
        </p:spPr>
      </p:sp>
      <p:sp>
        <p:nvSpPr>
          <p:cNvPr id="11" name="Text 9"/>
          <p:cNvSpPr/>
          <p:nvPr/>
        </p:nvSpPr>
        <p:spPr>
          <a:xfrm>
            <a:off x="2176272" y="1965960"/>
            <a:ext cx="822960" cy="7772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2" name="Text 10"/>
          <p:cNvSpPr/>
          <p:nvPr/>
        </p:nvSpPr>
        <p:spPr>
          <a:xfrm>
            <a:off x="1810512" y="2926080"/>
            <a:ext cx="164592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Embed</a:t>
            </a:r>
            <a:endParaRPr lang="en-US" sz="1300" dirty="0"/>
          </a:p>
        </p:txBody>
      </p:sp>
      <p:sp>
        <p:nvSpPr>
          <p:cNvPr id="13" name="Text 11"/>
          <p:cNvSpPr/>
          <p:nvPr/>
        </p:nvSpPr>
        <p:spPr>
          <a:xfrm>
            <a:off x="1810512" y="3246120"/>
            <a:ext cx="1645920" cy="36576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Vectorize chunks</a:t>
            </a:r>
            <a:endParaRPr lang="en-US" sz="1000" dirty="0"/>
          </a:p>
        </p:txBody>
      </p:sp>
      <p:sp>
        <p:nvSpPr>
          <p:cNvPr id="14" name="Shape 12"/>
          <p:cNvSpPr/>
          <p:nvPr/>
        </p:nvSpPr>
        <p:spPr>
          <a:xfrm>
            <a:off x="1901952" y="3840480"/>
            <a:ext cx="1463040" cy="822960"/>
          </a:xfrm>
          <a:prstGeom prst="rect">
            <a:avLst/>
          </a:prstGeom>
          <a:solidFill>
            <a:srgbClr val="2D4A6F"/>
          </a:solidFill>
          <a:ln/>
        </p:spPr>
      </p:sp>
      <p:sp>
        <p:nvSpPr>
          <p:cNvPr id="15" name="Text 13"/>
          <p:cNvSpPr/>
          <p:nvPr/>
        </p:nvSpPr>
        <p:spPr>
          <a:xfrm>
            <a:off x="1993392" y="3931920"/>
            <a:ext cx="1280160" cy="640080"/>
          </a:xfrm>
          <a:prstGeom prst="rect">
            <a:avLst/>
          </a:prstGeom>
          <a:noFill/>
          <a:ln/>
        </p:spPr>
        <p:txBody>
          <a:bodyPr wrap="square"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text-embedding-3-small</a:t>
            </a:r>
            <a:endParaRPr lang="en-US" sz="900" dirty="0"/>
          </a:p>
        </p:txBody>
      </p:sp>
      <p:sp>
        <p:nvSpPr>
          <p:cNvPr id="16" name="Shape 14"/>
          <p:cNvSpPr/>
          <p:nvPr/>
        </p:nvSpPr>
        <p:spPr>
          <a:xfrm>
            <a:off x="3712464" y="1920240"/>
            <a:ext cx="822960" cy="822960"/>
          </a:xfrm>
          <a:prstGeom prst="ellipse">
            <a:avLst/>
          </a:prstGeom>
          <a:solidFill>
            <a:srgbClr val="8B5CF6"/>
          </a:solidFill>
          <a:ln/>
        </p:spPr>
      </p:sp>
      <p:sp>
        <p:nvSpPr>
          <p:cNvPr id="17" name="Text 15"/>
          <p:cNvSpPr/>
          <p:nvPr/>
        </p:nvSpPr>
        <p:spPr>
          <a:xfrm>
            <a:off x="3712464" y="1965960"/>
            <a:ext cx="822960" cy="7772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8" name="Text 16"/>
          <p:cNvSpPr/>
          <p:nvPr/>
        </p:nvSpPr>
        <p:spPr>
          <a:xfrm>
            <a:off x="3346704" y="2926080"/>
            <a:ext cx="164592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Store</a:t>
            </a:r>
            <a:endParaRPr lang="en-US" sz="1300" dirty="0"/>
          </a:p>
        </p:txBody>
      </p:sp>
      <p:sp>
        <p:nvSpPr>
          <p:cNvPr id="19" name="Text 17"/>
          <p:cNvSpPr/>
          <p:nvPr/>
        </p:nvSpPr>
        <p:spPr>
          <a:xfrm>
            <a:off x="3346704" y="3246120"/>
            <a:ext cx="1645920" cy="36576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Index in vector DB</a:t>
            </a:r>
            <a:endParaRPr lang="en-US" sz="1000" dirty="0"/>
          </a:p>
        </p:txBody>
      </p:sp>
      <p:sp>
        <p:nvSpPr>
          <p:cNvPr id="20" name="Shape 18"/>
          <p:cNvSpPr/>
          <p:nvPr/>
        </p:nvSpPr>
        <p:spPr>
          <a:xfrm>
            <a:off x="3438144" y="3840480"/>
            <a:ext cx="1463040" cy="822960"/>
          </a:xfrm>
          <a:prstGeom prst="rect">
            <a:avLst/>
          </a:prstGeom>
          <a:solidFill>
            <a:srgbClr val="2D4A6F"/>
          </a:solidFill>
          <a:ln/>
        </p:spPr>
      </p:sp>
      <p:sp>
        <p:nvSpPr>
          <p:cNvPr id="21" name="Text 19"/>
          <p:cNvSpPr/>
          <p:nvPr/>
        </p:nvSpPr>
        <p:spPr>
          <a:xfrm>
            <a:off x="3529584" y="3931920"/>
            <a:ext cx="1280160" cy="640080"/>
          </a:xfrm>
          <a:prstGeom prst="rect">
            <a:avLst/>
          </a:prstGeom>
          <a:noFill/>
          <a:ln/>
        </p:spPr>
        <p:txBody>
          <a:bodyPr wrap="square"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Pinecone, Chroma</a:t>
            </a:r>
            <a:endParaRPr lang="en-US" sz="900" dirty="0"/>
          </a:p>
        </p:txBody>
      </p:sp>
      <p:sp>
        <p:nvSpPr>
          <p:cNvPr id="22" name="Shape 20"/>
          <p:cNvSpPr/>
          <p:nvPr/>
        </p:nvSpPr>
        <p:spPr>
          <a:xfrm>
            <a:off x="5248656" y="1920240"/>
            <a:ext cx="822960" cy="822960"/>
          </a:xfrm>
          <a:prstGeom prst="ellipse">
            <a:avLst/>
          </a:prstGeom>
          <a:solidFill>
            <a:srgbClr val="3B82F6"/>
          </a:solidFill>
          <a:ln/>
        </p:spPr>
      </p:sp>
      <p:sp>
        <p:nvSpPr>
          <p:cNvPr id="23" name="Text 21"/>
          <p:cNvSpPr/>
          <p:nvPr/>
        </p:nvSpPr>
        <p:spPr>
          <a:xfrm>
            <a:off x="5248656" y="1965960"/>
            <a:ext cx="822960" cy="7772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24" name="Text 22"/>
          <p:cNvSpPr/>
          <p:nvPr/>
        </p:nvSpPr>
        <p:spPr>
          <a:xfrm>
            <a:off x="4882896" y="2926080"/>
            <a:ext cx="164592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Retrieve</a:t>
            </a:r>
            <a:endParaRPr lang="en-US" sz="1300" dirty="0"/>
          </a:p>
        </p:txBody>
      </p:sp>
      <p:sp>
        <p:nvSpPr>
          <p:cNvPr id="25" name="Text 23"/>
          <p:cNvSpPr/>
          <p:nvPr/>
        </p:nvSpPr>
        <p:spPr>
          <a:xfrm>
            <a:off x="4882896" y="3246120"/>
            <a:ext cx="1645920" cy="36576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Find relevant chunks</a:t>
            </a:r>
            <a:endParaRPr lang="en-US" sz="1000" dirty="0"/>
          </a:p>
        </p:txBody>
      </p:sp>
      <p:sp>
        <p:nvSpPr>
          <p:cNvPr id="26" name="Shape 24"/>
          <p:cNvSpPr/>
          <p:nvPr/>
        </p:nvSpPr>
        <p:spPr>
          <a:xfrm>
            <a:off x="4974336" y="3840480"/>
            <a:ext cx="1463040" cy="822960"/>
          </a:xfrm>
          <a:prstGeom prst="rect">
            <a:avLst/>
          </a:prstGeom>
          <a:solidFill>
            <a:srgbClr val="2D4A6F"/>
          </a:solidFill>
          <a:ln/>
        </p:spPr>
      </p:sp>
      <p:sp>
        <p:nvSpPr>
          <p:cNvPr id="27" name="Text 25"/>
          <p:cNvSpPr/>
          <p:nvPr/>
        </p:nvSpPr>
        <p:spPr>
          <a:xfrm>
            <a:off x="5065776" y="3931920"/>
            <a:ext cx="1280160" cy="640080"/>
          </a:xfrm>
          <a:prstGeom prst="rect">
            <a:avLst/>
          </a:prstGeom>
          <a:noFill/>
          <a:ln/>
        </p:spPr>
        <p:txBody>
          <a:bodyPr wrap="square"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Top-k similarity search</a:t>
            </a:r>
            <a:endParaRPr lang="en-US" sz="900" dirty="0"/>
          </a:p>
        </p:txBody>
      </p:sp>
      <p:sp>
        <p:nvSpPr>
          <p:cNvPr id="28" name="Shape 26"/>
          <p:cNvSpPr/>
          <p:nvPr/>
        </p:nvSpPr>
        <p:spPr>
          <a:xfrm>
            <a:off x="6784848" y="1920240"/>
            <a:ext cx="822960" cy="822960"/>
          </a:xfrm>
          <a:prstGeom prst="ellipse">
            <a:avLst/>
          </a:prstGeom>
          <a:solidFill>
            <a:srgbClr val="0D9488"/>
          </a:solidFill>
          <a:ln/>
        </p:spPr>
      </p:sp>
      <p:sp>
        <p:nvSpPr>
          <p:cNvPr id="29" name="Text 27"/>
          <p:cNvSpPr/>
          <p:nvPr/>
        </p:nvSpPr>
        <p:spPr>
          <a:xfrm>
            <a:off x="6784848" y="1965960"/>
            <a:ext cx="822960" cy="7772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5</a:t>
            </a:r>
            <a:endParaRPr lang="en-US" sz="2200" dirty="0"/>
          </a:p>
        </p:txBody>
      </p:sp>
      <p:sp>
        <p:nvSpPr>
          <p:cNvPr id="30" name="Text 28"/>
          <p:cNvSpPr/>
          <p:nvPr/>
        </p:nvSpPr>
        <p:spPr>
          <a:xfrm>
            <a:off x="6419088" y="2926080"/>
            <a:ext cx="164592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Generate</a:t>
            </a:r>
            <a:endParaRPr lang="en-US" sz="1300" dirty="0"/>
          </a:p>
        </p:txBody>
      </p:sp>
      <p:sp>
        <p:nvSpPr>
          <p:cNvPr id="31" name="Text 29"/>
          <p:cNvSpPr/>
          <p:nvPr/>
        </p:nvSpPr>
        <p:spPr>
          <a:xfrm>
            <a:off x="6419088" y="3246120"/>
            <a:ext cx="1645920" cy="36576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LLM produces answer</a:t>
            </a:r>
            <a:endParaRPr lang="en-US" sz="1000" dirty="0"/>
          </a:p>
        </p:txBody>
      </p:sp>
      <p:sp>
        <p:nvSpPr>
          <p:cNvPr id="32" name="Shape 30"/>
          <p:cNvSpPr/>
          <p:nvPr/>
        </p:nvSpPr>
        <p:spPr>
          <a:xfrm>
            <a:off x="6510528" y="3840480"/>
            <a:ext cx="1463040" cy="822960"/>
          </a:xfrm>
          <a:prstGeom prst="rect">
            <a:avLst/>
          </a:prstGeom>
          <a:solidFill>
            <a:srgbClr val="2D4A6F"/>
          </a:solidFill>
          <a:ln/>
        </p:spPr>
      </p:sp>
      <p:sp>
        <p:nvSpPr>
          <p:cNvPr id="33" name="Text 31"/>
          <p:cNvSpPr/>
          <p:nvPr/>
        </p:nvSpPr>
        <p:spPr>
          <a:xfrm>
            <a:off x="6601968" y="3931920"/>
            <a:ext cx="1280160" cy="640080"/>
          </a:xfrm>
          <a:prstGeom prst="rect">
            <a:avLst/>
          </a:prstGeom>
          <a:noFill/>
          <a:ln/>
        </p:spPr>
        <p:txBody>
          <a:bodyPr wrap="square"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Grounded response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1E3A5F"/>
                </a:solidFill>
                <a:latin typeface="Georgia" pitchFamily="34" charset="0"/>
                <a:ea typeface="Georgia" pitchFamily="34" charset="-122"/>
                <a:cs typeface="Georgia" pitchFamily="34" charset="-120"/>
              </a:rPr>
              <a:t>Advanced Retrieval Techniques</a:t>
            </a:r>
            <a:endParaRPr lang="en-US" sz="2800" dirty="0"/>
          </a:p>
        </p:txBody>
      </p:sp>
      <p:sp>
        <p:nvSpPr>
          <p:cNvPr id="3" name="Shape 1"/>
          <p:cNvSpPr/>
          <p:nvPr/>
        </p:nvSpPr>
        <p:spPr>
          <a:xfrm>
            <a:off x="457200" y="1097280"/>
            <a:ext cx="393192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4" name="Shape 2"/>
          <p:cNvSpPr/>
          <p:nvPr/>
        </p:nvSpPr>
        <p:spPr>
          <a:xfrm>
            <a:off x="640080" y="1280160"/>
            <a:ext cx="502920" cy="502920"/>
          </a:xfrm>
          <a:prstGeom prst="ellipse">
            <a:avLst/>
          </a:prstGeom>
          <a:solidFill>
            <a:srgbClr val="0D9488">
              <a:alpha val="85000"/>
            </a:srgbClr>
          </a:solidFill>
          <a:ln/>
        </p:spPr>
      </p:sp>
      <p:sp>
        <p:nvSpPr>
          <p:cNvPr id="5" name="Text 3"/>
          <p:cNvSpPr/>
          <p:nvPr/>
        </p:nvSpPr>
        <p:spPr>
          <a:xfrm>
            <a:off x="640080" y="1298448"/>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H</a:t>
            </a:r>
            <a:endParaRPr lang="en-US" sz="1800" dirty="0"/>
          </a:p>
        </p:txBody>
      </p:sp>
      <p:sp>
        <p:nvSpPr>
          <p:cNvPr id="6" name="Text 4"/>
          <p:cNvSpPr/>
          <p:nvPr/>
        </p:nvSpPr>
        <p:spPr>
          <a:xfrm>
            <a:off x="1280160" y="1325880"/>
            <a:ext cx="292608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Hybrid Search</a:t>
            </a:r>
            <a:endParaRPr lang="en-US" sz="1500" dirty="0"/>
          </a:p>
        </p:txBody>
      </p:sp>
      <p:sp>
        <p:nvSpPr>
          <p:cNvPr id="7" name="Text 5"/>
          <p:cNvSpPr/>
          <p:nvPr/>
        </p:nvSpPr>
        <p:spPr>
          <a:xfrm>
            <a:off x="640080" y="1920240"/>
            <a:ext cx="3566160" cy="7315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Combine keyword (BM25) + vector search. Best of both worlds.</a:t>
            </a:r>
            <a:endParaRPr lang="en-US" sz="1100" dirty="0"/>
          </a:p>
        </p:txBody>
      </p:sp>
      <p:sp>
        <p:nvSpPr>
          <p:cNvPr id="8" name="Shape 6"/>
          <p:cNvSpPr/>
          <p:nvPr/>
        </p:nvSpPr>
        <p:spPr>
          <a:xfrm>
            <a:off x="4663440" y="1097280"/>
            <a:ext cx="393192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9" name="Shape 7"/>
          <p:cNvSpPr/>
          <p:nvPr/>
        </p:nvSpPr>
        <p:spPr>
          <a:xfrm>
            <a:off x="4846320" y="1280160"/>
            <a:ext cx="502920" cy="502920"/>
          </a:xfrm>
          <a:prstGeom prst="ellipse">
            <a:avLst/>
          </a:prstGeom>
          <a:solidFill>
            <a:srgbClr val="F97316">
              <a:alpha val="85000"/>
            </a:srgbClr>
          </a:solidFill>
          <a:ln/>
        </p:spPr>
      </p:sp>
      <p:sp>
        <p:nvSpPr>
          <p:cNvPr id="10" name="Text 8"/>
          <p:cNvSpPr/>
          <p:nvPr/>
        </p:nvSpPr>
        <p:spPr>
          <a:xfrm>
            <a:off x="4846320" y="1298448"/>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R</a:t>
            </a:r>
            <a:endParaRPr lang="en-US" sz="1800" dirty="0"/>
          </a:p>
        </p:txBody>
      </p:sp>
      <p:sp>
        <p:nvSpPr>
          <p:cNvPr id="11" name="Text 9"/>
          <p:cNvSpPr/>
          <p:nvPr/>
        </p:nvSpPr>
        <p:spPr>
          <a:xfrm>
            <a:off x="5486400" y="1325880"/>
            <a:ext cx="292608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Re-ranking</a:t>
            </a:r>
            <a:endParaRPr lang="en-US" sz="1500" dirty="0"/>
          </a:p>
        </p:txBody>
      </p:sp>
      <p:sp>
        <p:nvSpPr>
          <p:cNvPr id="12" name="Text 10"/>
          <p:cNvSpPr/>
          <p:nvPr/>
        </p:nvSpPr>
        <p:spPr>
          <a:xfrm>
            <a:off x="4846320" y="1920240"/>
            <a:ext cx="3566160" cy="7315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Cross-encoder re-ranks initial results. Improves precision.</a:t>
            </a:r>
            <a:endParaRPr lang="en-US" sz="1100" dirty="0"/>
          </a:p>
        </p:txBody>
      </p:sp>
      <p:sp>
        <p:nvSpPr>
          <p:cNvPr id="13" name="Shape 11"/>
          <p:cNvSpPr/>
          <p:nvPr/>
        </p:nvSpPr>
        <p:spPr>
          <a:xfrm>
            <a:off x="457200" y="3017520"/>
            <a:ext cx="393192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4" name="Shape 12"/>
          <p:cNvSpPr/>
          <p:nvPr/>
        </p:nvSpPr>
        <p:spPr>
          <a:xfrm>
            <a:off x="640080" y="3200400"/>
            <a:ext cx="502920" cy="502920"/>
          </a:xfrm>
          <a:prstGeom prst="ellipse">
            <a:avLst/>
          </a:prstGeom>
          <a:solidFill>
            <a:srgbClr val="8B5CF6">
              <a:alpha val="85000"/>
            </a:srgbClr>
          </a:solidFill>
          <a:ln/>
        </p:spPr>
      </p:sp>
      <p:sp>
        <p:nvSpPr>
          <p:cNvPr id="15" name="Text 13"/>
          <p:cNvSpPr/>
          <p:nvPr/>
        </p:nvSpPr>
        <p:spPr>
          <a:xfrm>
            <a:off x="640080" y="3218688"/>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M</a:t>
            </a:r>
            <a:endParaRPr lang="en-US" sz="1800" dirty="0"/>
          </a:p>
        </p:txBody>
      </p:sp>
      <p:sp>
        <p:nvSpPr>
          <p:cNvPr id="16" name="Text 14"/>
          <p:cNvSpPr/>
          <p:nvPr/>
        </p:nvSpPr>
        <p:spPr>
          <a:xfrm>
            <a:off x="1280160" y="3246120"/>
            <a:ext cx="292608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Multi-Query</a:t>
            </a:r>
            <a:endParaRPr lang="en-US" sz="1500" dirty="0"/>
          </a:p>
        </p:txBody>
      </p:sp>
      <p:sp>
        <p:nvSpPr>
          <p:cNvPr id="17" name="Text 15"/>
          <p:cNvSpPr/>
          <p:nvPr/>
        </p:nvSpPr>
        <p:spPr>
          <a:xfrm>
            <a:off x="640080" y="3840480"/>
            <a:ext cx="3566160" cy="7315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Generate multiple query variants. Covers different phrasings.</a:t>
            </a:r>
            <a:endParaRPr lang="en-US" sz="1100" dirty="0"/>
          </a:p>
        </p:txBody>
      </p:sp>
      <p:sp>
        <p:nvSpPr>
          <p:cNvPr id="18" name="Shape 16"/>
          <p:cNvSpPr/>
          <p:nvPr/>
        </p:nvSpPr>
        <p:spPr>
          <a:xfrm>
            <a:off x="4663440" y="3017520"/>
            <a:ext cx="393192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9" name="Shape 17"/>
          <p:cNvSpPr/>
          <p:nvPr/>
        </p:nvSpPr>
        <p:spPr>
          <a:xfrm>
            <a:off x="4846320" y="3200400"/>
            <a:ext cx="502920" cy="502920"/>
          </a:xfrm>
          <a:prstGeom prst="ellipse">
            <a:avLst/>
          </a:prstGeom>
          <a:solidFill>
            <a:srgbClr val="3B82F6">
              <a:alpha val="85000"/>
            </a:srgbClr>
          </a:solidFill>
          <a:ln/>
        </p:spPr>
      </p:sp>
      <p:sp>
        <p:nvSpPr>
          <p:cNvPr id="20" name="Text 18"/>
          <p:cNvSpPr/>
          <p:nvPr/>
        </p:nvSpPr>
        <p:spPr>
          <a:xfrm>
            <a:off x="4846320" y="3218688"/>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S</a:t>
            </a:r>
            <a:endParaRPr lang="en-US" sz="1800" dirty="0"/>
          </a:p>
        </p:txBody>
      </p:sp>
      <p:sp>
        <p:nvSpPr>
          <p:cNvPr id="21" name="Text 19"/>
          <p:cNvSpPr/>
          <p:nvPr/>
        </p:nvSpPr>
        <p:spPr>
          <a:xfrm>
            <a:off x="5486400" y="3246120"/>
            <a:ext cx="292608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Self-Query</a:t>
            </a:r>
            <a:endParaRPr lang="en-US" sz="1500" dirty="0"/>
          </a:p>
        </p:txBody>
      </p:sp>
      <p:sp>
        <p:nvSpPr>
          <p:cNvPr id="22" name="Text 20"/>
          <p:cNvSpPr/>
          <p:nvPr/>
        </p:nvSpPr>
        <p:spPr>
          <a:xfrm>
            <a:off x="4846320" y="3840480"/>
            <a:ext cx="3566160" cy="7315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LLM extracts filters from natural language. Metadata-aware.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1E3A5F"/>
                </a:solidFill>
                <a:latin typeface="Georgia" pitchFamily="34" charset="0"/>
                <a:ea typeface="Georgia" pitchFamily="34" charset="-122"/>
                <a:cs typeface="Georgia" pitchFamily="34" charset="-120"/>
              </a:rPr>
              <a:t>RAG Evaluation Metrics</a:t>
            </a:r>
            <a:endParaRPr lang="en-US" sz="2800" dirty="0"/>
          </a:p>
        </p:txBody>
      </p:sp>
      <p:sp>
        <p:nvSpPr>
          <p:cNvPr id="3" name="Text 1"/>
          <p:cNvSpPr/>
          <p:nvPr/>
        </p:nvSpPr>
        <p:spPr>
          <a:xfrm>
            <a:off x="457200" y="914400"/>
            <a:ext cx="8229600" cy="32004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Measuring retrieval and generation quality</a:t>
            </a:r>
            <a:endParaRPr lang="en-US" sz="1300" dirty="0"/>
          </a:p>
        </p:txBody>
      </p:sp>
      <p:sp>
        <p:nvSpPr>
          <p:cNvPr id="4" name="Shape 2"/>
          <p:cNvSpPr/>
          <p:nvPr/>
        </p:nvSpPr>
        <p:spPr>
          <a:xfrm>
            <a:off x="457200" y="1371600"/>
            <a:ext cx="3931920" cy="1554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457200" y="1371600"/>
            <a:ext cx="73152" cy="1554480"/>
          </a:xfrm>
          <a:prstGeom prst="rect">
            <a:avLst/>
          </a:prstGeom>
          <a:solidFill>
            <a:srgbClr val="0D9488"/>
          </a:solidFill>
          <a:ln/>
        </p:spPr>
      </p:sp>
      <p:sp>
        <p:nvSpPr>
          <p:cNvPr id="6" name="Text 4"/>
          <p:cNvSpPr/>
          <p:nvPr/>
        </p:nvSpPr>
        <p:spPr>
          <a:xfrm>
            <a:off x="731520" y="1508760"/>
            <a:ext cx="1371600" cy="548640"/>
          </a:xfrm>
          <a:prstGeom prst="rect">
            <a:avLst/>
          </a:prstGeom>
          <a:noFill/>
          <a:ln/>
        </p:spPr>
        <p:txBody>
          <a:bodyPr wrap="square" lIns="0" tIns="0" rIns="0" bIns="0" rtlCol="0" anchor="ctr"/>
          <a:lstStyle/>
          <a:p>
            <a:pPr indent="0" marL="0">
              <a:buNone/>
            </a:pPr>
            <a:r>
              <a:rPr lang="en-US" sz="2600" b="1" dirty="0">
                <a:solidFill>
                  <a:srgbClr val="1E3A5F"/>
                </a:solidFill>
                <a:latin typeface="Georgia" pitchFamily="34" charset="0"/>
                <a:ea typeface="Georgia" pitchFamily="34" charset="-122"/>
                <a:cs typeface="Georgia" pitchFamily="34" charset="-120"/>
              </a:rPr>
              <a:t>Faithful</a:t>
            </a:r>
            <a:endParaRPr lang="en-US" sz="2600" dirty="0"/>
          </a:p>
        </p:txBody>
      </p:sp>
      <p:sp>
        <p:nvSpPr>
          <p:cNvPr id="7" name="Text 5"/>
          <p:cNvSpPr/>
          <p:nvPr/>
        </p:nvSpPr>
        <p:spPr>
          <a:xfrm>
            <a:off x="2103120" y="1554480"/>
            <a:ext cx="210312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Faithfulness</a:t>
            </a:r>
            <a:endParaRPr lang="en-US" sz="1400" dirty="0"/>
          </a:p>
        </p:txBody>
      </p:sp>
      <p:sp>
        <p:nvSpPr>
          <p:cNvPr id="8" name="Text 6"/>
          <p:cNvSpPr/>
          <p:nvPr/>
        </p:nvSpPr>
        <p:spPr>
          <a:xfrm>
            <a:off x="731520" y="2194560"/>
            <a:ext cx="347472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Is the answer grounded in retrieved context?</a:t>
            </a:r>
            <a:endParaRPr lang="en-US" sz="1100" dirty="0"/>
          </a:p>
        </p:txBody>
      </p:sp>
      <p:sp>
        <p:nvSpPr>
          <p:cNvPr id="9" name="Shape 7"/>
          <p:cNvSpPr/>
          <p:nvPr/>
        </p:nvSpPr>
        <p:spPr>
          <a:xfrm>
            <a:off x="4663440" y="1371600"/>
            <a:ext cx="3931920" cy="1554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8"/>
          <p:cNvSpPr/>
          <p:nvPr/>
        </p:nvSpPr>
        <p:spPr>
          <a:xfrm>
            <a:off x="4663440" y="1371600"/>
            <a:ext cx="73152" cy="1554480"/>
          </a:xfrm>
          <a:prstGeom prst="rect">
            <a:avLst/>
          </a:prstGeom>
          <a:solidFill>
            <a:srgbClr val="F97316"/>
          </a:solidFill>
          <a:ln/>
        </p:spPr>
      </p:sp>
      <p:sp>
        <p:nvSpPr>
          <p:cNvPr id="11" name="Text 9"/>
          <p:cNvSpPr/>
          <p:nvPr/>
        </p:nvSpPr>
        <p:spPr>
          <a:xfrm>
            <a:off x="4937760" y="1508760"/>
            <a:ext cx="1371600" cy="548640"/>
          </a:xfrm>
          <a:prstGeom prst="rect">
            <a:avLst/>
          </a:prstGeom>
          <a:noFill/>
          <a:ln/>
        </p:spPr>
        <p:txBody>
          <a:bodyPr wrap="square" lIns="0" tIns="0" rIns="0" bIns="0" rtlCol="0" anchor="ctr"/>
          <a:lstStyle/>
          <a:p>
            <a:pPr indent="0" marL="0">
              <a:buNone/>
            </a:pPr>
            <a:r>
              <a:rPr lang="en-US" sz="2600" b="1" dirty="0">
                <a:solidFill>
                  <a:srgbClr val="1E3A5F"/>
                </a:solidFill>
                <a:latin typeface="Georgia" pitchFamily="34" charset="0"/>
                <a:ea typeface="Georgia" pitchFamily="34" charset="-122"/>
                <a:cs typeface="Georgia" pitchFamily="34" charset="-120"/>
              </a:rPr>
              <a:t>Relev.</a:t>
            </a:r>
            <a:endParaRPr lang="en-US" sz="2600" dirty="0"/>
          </a:p>
        </p:txBody>
      </p:sp>
      <p:sp>
        <p:nvSpPr>
          <p:cNvPr id="12" name="Text 10"/>
          <p:cNvSpPr/>
          <p:nvPr/>
        </p:nvSpPr>
        <p:spPr>
          <a:xfrm>
            <a:off x="6309360" y="1554480"/>
            <a:ext cx="210312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Relevance</a:t>
            </a:r>
            <a:endParaRPr lang="en-US" sz="1400" dirty="0"/>
          </a:p>
        </p:txBody>
      </p:sp>
      <p:sp>
        <p:nvSpPr>
          <p:cNvPr id="13" name="Text 11"/>
          <p:cNvSpPr/>
          <p:nvPr/>
        </p:nvSpPr>
        <p:spPr>
          <a:xfrm>
            <a:off x="4937760" y="2194560"/>
            <a:ext cx="347472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Are retrieved chunks relevant to the query?</a:t>
            </a:r>
            <a:endParaRPr lang="en-US" sz="1100" dirty="0"/>
          </a:p>
        </p:txBody>
      </p:sp>
      <p:sp>
        <p:nvSpPr>
          <p:cNvPr id="14" name="Shape 12"/>
          <p:cNvSpPr/>
          <p:nvPr/>
        </p:nvSpPr>
        <p:spPr>
          <a:xfrm>
            <a:off x="457200" y="3108960"/>
            <a:ext cx="3931920" cy="1554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5" name="Shape 13"/>
          <p:cNvSpPr/>
          <p:nvPr/>
        </p:nvSpPr>
        <p:spPr>
          <a:xfrm>
            <a:off x="457200" y="3108960"/>
            <a:ext cx="73152" cy="1554480"/>
          </a:xfrm>
          <a:prstGeom prst="rect">
            <a:avLst/>
          </a:prstGeom>
          <a:solidFill>
            <a:srgbClr val="8B5CF6"/>
          </a:solidFill>
          <a:ln/>
        </p:spPr>
      </p:sp>
      <p:sp>
        <p:nvSpPr>
          <p:cNvPr id="16" name="Text 14"/>
          <p:cNvSpPr/>
          <p:nvPr/>
        </p:nvSpPr>
        <p:spPr>
          <a:xfrm>
            <a:off x="731520" y="3246120"/>
            <a:ext cx="1371600" cy="548640"/>
          </a:xfrm>
          <a:prstGeom prst="rect">
            <a:avLst/>
          </a:prstGeom>
          <a:noFill/>
          <a:ln/>
        </p:spPr>
        <p:txBody>
          <a:bodyPr wrap="square" lIns="0" tIns="0" rIns="0" bIns="0" rtlCol="0" anchor="ctr"/>
          <a:lstStyle/>
          <a:p>
            <a:pPr indent="0" marL="0">
              <a:buNone/>
            </a:pPr>
            <a:r>
              <a:rPr lang="en-US" sz="2600" b="1" dirty="0">
                <a:solidFill>
                  <a:srgbClr val="1E3A5F"/>
                </a:solidFill>
                <a:latin typeface="Georgia" pitchFamily="34" charset="0"/>
                <a:ea typeface="Georgia" pitchFamily="34" charset="-122"/>
                <a:cs typeface="Georgia" pitchFamily="34" charset="-120"/>
              </a:rPr>
              <a:t>Recall</a:t>
            </a:r>
            <a:endParaRPr lang="en-US" sz="2600" dirty="0"/>
          </a:p>
        </p:txBody>
      </p:sp>
      <p:sp>
        <p:nvSpPr>
          <p:cNvPr id="17" name="Text 15"/>
          <p:cNvSpPr/>
          <p:nvPr/>
        </p:nvSpPr>
        <p:spPr>
          <a:xfrm>
            <a:off x="2103120" y="3291840"/>
            <a:ext cx="210312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Context Recall</a:t>
            </a:r>
            <a:endParaRPr lang="en-US" sz="1400" dirty="0"/>
          </a:p>
        </p:txBody>
      </p:sp>
      <p:sp>
        <p:nvSpPr>
          <p:cNvPr id="18" name="Text 16"/>
          <p:cNvSpPr/>
          <p:nvPr/>
        </p:nvSpPr>
        <p:spPr>
          <a:xfrm>
            <a:off x="731520" y="3931920"/>
            <a:ext cx="347472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Did we retrieve all necessary information?</a:t>
            </a:r>
            <a:endParaRPr lang="en-US" sz="1100" dirty="0"/>
          </a:p>
        </p:txBody>
      </p:sp>
      <p:sp>
        <p:nvSpPr>
          <p:cNvPr id="19" name="Shape 17"/>
          <p:cNvSpPr/>
          <p:nvPr/>
        </p:nvSpPr>
        <p:spPr>
          <a:xfrm>
            <a:off x="4663440" y="3108960"/>
            <a:ext cx="3931920" cy="1554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0" name="Shape 18"/>
          <p:cNvSpPr/>
          <p:nvPr/>
        </p:nvSpPr>
        <p:spPr>
          <a:xfrm>
            <a:off x="4663440" y="3108960"/>
            <a:ext cx="73152" cy="1554480"/>
          </a:xfrm>
          <a:prstGeom prst="rect">
            <a:avLst/>
          </a:prstGeom>
          <a:solidFill>
            <a:srgbClr val="3B82F6"/>
          </a:solidFill>
          <a:ln/>
        </p:spPr>
      </p:sp>
      <p:sp>
        <p:nvSpPr>
          <p:cNvPr id="21" name="Text 19"/>
          <p:cNvSpPr/>
          <p:nvPr/>
        </p:nvSpPr>
        <p:spPr>
          <a:xfrm>
            <a:off x="4937760" y="3246120"/>
            <a:ext cx="1371600" cy="548640"/>
          </a:xfrm>
          <a:prstGeom prst="rect">
            <a:avLst/>
          </a:prstGeom>
          <a:noFill/>
          <a:ln/>
        </p:spPr>
        <p:txBody>
          <a:bodyPr wrap="square" lIns="0" tIns="0" rIns="0" bIns="0" rtlCol="0" anchor="ctr"/>
          <a:lstStyle/>
          <a:p>
            <a:pPr indent="0" marL="0">
              <a:buNone/>
            </a:pPr>
            <a:r>
              <a:rPr lang="en-US" sz="2600" b="1" dirty="0">
                <a:solidFill>
                  <a:srgbClr val="1E3A5F"/>
                </a:solidFill>
                <a:latin typeface="Georgia" pitchFamily="34" charset="0"/>
                <a:ea typeface="Georgia" pitchFamily="34" charset="-122"/>
                <a:cs typeface="Georgia" pitchFamily="34" charset="-120"/>
              </a:rPr>
              <a:t>Answer</a:t>
            </a:r>
            <a:endParaRPr lang="en-US" sz="2600" dirty="0"/>
          </a:p>
        </p:txBody>
      </p:sp>
      <p:sp>
        <p:nvSpPr>
          <p:cNvPr id="22" name="Text 20"/>
          <p:cNvSpPr/>
          <p:nvPr/>
        </p:nvSpPr>
        <p:spPr>
          <a:xfrm>
            <a:off x="6309360" y="3291840"/>
            <a:ext cx="210312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Answer Correctness</a:t>
            </a:r>
            <a:endParaRPr lang="en-US" sz="1400" dirty="0"/>
          </a:p>
        </p:txBody>
      </p:sp>
      <p:sp>
        <p:nvSpPr>
          <p:cNvPr id="23" name="Text 21"/>
          <p:cNvSpPr/>
          <p:nvPr/>
        </p:nvSpPr>
        <p:spPr>
          <a:xfrm>
            <a:off x="4937760" y="3931920"/>
            <a:ext cx="347472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Is the final answer factually correct?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600" b="1" dirty="0">
                <a:solidFill>
                  <a:srgbClr val="1E3A5F"/>
                </a:solidFill>
                <a:latin typeface="Georgia" pitchFamily="34" charset="0"/>
                <a:ea typeface="Georgia" pitchFamily="34" charset="-122"/>
                <a:cs typeface="Georgia" pitchFamily="34" charset="-120"/>
              </a:rPr>
              <a:t>Production Challenges &amp; Fixes</a:t>
            </a:r>
            <a:endParaRPr lang="en-US" sz="2600" dirty="0"/>
          </a:p>
        </p:txBody>
      </p:sp>
      <p:sp>
        <p:nvSpPr>
          <p:cNvPr id="3" name="Shape 1"/>
          <p:cNvSpPr/>
          <p:nvPr/>
        </p:nvSpPr>
        <p:spPr>
          <a:xfrm>
            <a:off x="457200" y="1097280"/>
            <a:ext cx="3931920" cy="3657600"/>
          </a:xfrm>
          <a:prstGeom prst="rect">
            <a:avLst/>
          </a:prstGeom>
          <a:solidFill>
            <a:srgbClr val="F0FDFA"/>
          </a:solidFill>
          <a:ln/>
          <a:effectLst>
            <a:outerShdw sx="100000" sy="100000" kx="0" ky="0" algn="bl" rotWithShape="0" blurRad="76200" dist="25400" dir="8100000">
              <a:srgbClr val="000000">
                <a:alpha val="8000"/>
              </a:srgbClr>
            </a:outerShdw>
          </a:effectLst>
        </p:spPr>
      </p:sp>
      <p:sp>
        <p:nvSpPr>
          <p:cNvPr id="4" name="Shape 2"/>
          <p:cNvSpPr/>
          <p:nvPr/>
        </p:nvSpPr>
        <p:spPr>
          <a:xfrm>
            <a:off x="457200" y="1097280"/>
            <a:ext cx="3931920" cy="457200"/>
          </a:xfrm>
          <a:prstGeom prst="rect">
            <a:avLst/>
          </a:prstGeom>
          <a:solidFill>
            <a:srgbClr val="0D9488"/>
          </a:solidFill>
          <a:ln/>
        </p:spPr>
      </p:sp>
      <p:sp>
        <p:nvSpPr>
          <p:cNvPr id="5" name="Text 3"/>
          <p:cNvSpPr/>
          <p:nvPr/>
        </p:nvSpPr>
        <p:spPr>
          <a:xfrm>
            <a:off x="457200" y="1143000"/>
            <a:ext cx="39319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COMMON ISSUES</a:t>
            </a:r>
            <a:endParaRPr lang="en-US" sz="1400" dirty="0"/>
          </a:p>
        </p:txBody>
      </p:sp>
      <p:sp>
        <p:nvSpPr>
          <p:cNvPr id="6" name="Text 4"/>
          <p:cNvSpPr/>
          <p:nvPr/>
        </p:nvSpPr>
        <p:spPr>
          <a:xfrm>
            <a:off x="640080" y="1737360"/>
            <a:ext cx="3566160" cy="2743200"/>
          </a:xfrm>
          <a:prstGeom prst="rect">
            <a:avLst/>
          </a:prstGeom>
          <a:noFill/>
          <a:ln/>
        </p:spPr>
        <p:txBody>
          <a:bodyPr wrap="square" lIns="0" tIns="0" rIns="0" bIns="0" rtlCol="0" anchor="t"/>
          <a:lstStyle/>
          <a:p>
            <a:pPr indent="0" marL="0">
              <a:buNone/>
            </a:pPr>
            <a:r>
              <a:rPr lang="en-US" sz="1300" b="1" dirty="0">
                <a:solidFill>
                  <a:srgbClr val="1E293B"/>
                </a:solidFill>
                <a:latin typeface="Calibri" pitchFamily="34" charset="0"/>
                <a:ea typeface="Calibri" pitchFamily="34" charset="-122"/>
                <a:cs typeface="Calibri" pitchFamily="34" charset="-120"/>
              </a:rPr>
              <a:t>Chunk boundary breaks context</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 Use overlap + semantic chunking</a:t>
            </a:r>
            <a:endParaRPr lang="en-US" sz="1300" dirty="0"/>
          </a:p>
          <a:p>
            <a:pPr indent="0" marL="0">
              <a:buNone/>
            </a:pPr>
            <a:endParaRPr lang="en-US" sz="1300" dirty="0"/>
          </a:p>
          <a:p>
            <a:pPr indent="0" marL="0">
              <a:buNone/>
            </a:pPr>
            <a:r>
              <a:rPr lang="en-US" sz="1300" b="1" dirty="0">
                <a:solidFill>
                  <a:srgbClr val="1E293B"/>
                </a:solidFill>
                <a:latin typeface="Calibri" pitchFamily="34" charset="0"/>
                <a:ea typeface="Calibri" pitchFamily="34" charset="-122"/>
                <a:cs typeface="Calibri" pitchFamily="34" charset="-120"/>
              </a:rPr>
              <a:t>Retrieved irrelevant chunks</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 Re-ranking, hybrid search</a:t>
            </a:r>
            <a:endParaRPr lang="en-US" sz="1300" dirty="0"/>
          </a:p>
          <a:p>
            <a:pPr indent="0" marL="0">
              <a:buNone/>
            </a:pPr>
            <a:endParaRPr lang="en-US" sz="1300" dirty="0"/>
          </a:p>
          <a:p>
            <a:pPr indent="0" marL="0">
              <a:buNone/>
            </a:pPr>
            <a:r>
              <a:rPr lang="en-US" sz="1300" b="1" dirty="0">
                <a:solidFill>
                  <a:srgbClr val="1E293B"/>
                </a:solidFill>
                <a:latin typeface="Calibri" pitchFamily="34" charset="0"/>
                <a:ea typeface="Calibri" pitchFamily="34" charset="-122"/>
                <a:cs typeface="Calibri" pitchFamily="34" charset="-120"/>
              </a:rPr>
              <a:t>Stale embeddings</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 Incremental re-indexing pipeline</a:t>
            </a:r>
            <a:endParaRPr lang="en-US" sz="1300" dirty="0"/>
          </a:p>
        </p:txBody>
      </p:sp>
      <p:sp>
        <p:nvSpPr>
          <p:cNvPr id="7" name="Shape 5"/>
          <p:cNvSpPr/>
          <p:nvPr/>
        </p:nvSpPr>
        <p:spPr>
          <a:xfrm>
            <a:off x="4754880" y="1097280"/>
            <a:ext cx="3931920" cy="3657600"/>
          </a:xfrm>
          <a:prstGeom prst="rect">
            <a:avLst/>
          </a:prstGeom>
          <a:solidFill>
            <a:srgbClr val="FFF7ED"/>
          </a:solidFill>
          <a:ln/>
          <a:effectLst>
            <a:outerShdw sx="100000" sy="100000" kx="0" ky="0" algn="bl" rotWithShape="0" blurRad="76200" dist="25400" dir="8100000">
              <a:srgbClr val="000000">
                <a:alpha val="8000"/>
              </a:srgbClr>
            </a:outerShdw>
          </a:effectLst>
        </p:spPr>
      </p:sp>
      <p:sp>
        <p:nvSpPr>
          <p:cNvPr id="8" name="Shape 6"/>
          <p:cNvSpPr/>
          <p:nvPr/>
        </p:nvSpPr>
        <p:spPr>
          <a:xfrm>
            <a:off x="4754880" y="1097280"/>
            <a:ext cx="3931920" cy="457200"/>
          </a:xfrm>
          <a:prstGeom prst="rect">
            <a:avLst/>
          </a:prstGeom>
          <a:solidFill>
            <a:srgbClr val="F97316"/>
          </a:solidFill>
          <a:ln/>
        </p:spPr>
      </p:sp>
      <p:sp>
        <p:nvSpPr>
          <p:cNvPr id="9" name="Text 7"/>
          <p:cNvSpPr/>
          <p:nvPr/>
        </p:nvSpPr>
        <p:spPr>
          <a:xfrm>
            <a:off x="4754880" y="1143000"/>
            <a:ext cx="39319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SOLUTIONS</a:t>
            </a:r>
            <a:endParaRPr lang="en-US" sz="1400" dirty="0"/>
          </a:p>
        </p:txBody>
      </p:sp>
      <p:sp>
        <p:nvSpPr>
          <p:cNvPr id="10" name="Text 8"/>
          <p:cNvSpPr/>
          <p:nvPr/>
        </p:nvSpPr>
        <p:spPr>
          <a:xfrm>
            <a:off x="4937760" y="1737360"/>
            <a:ext cx="3566160" cy="2743200"/>
          </a:xfrm>
          <a:prstGeom prst="rect">
            <a:avLst/>
          </a:prstGeom>
          <a:noFill/>
          <a:ln/>
        </p:spPr>
        <p:txBody>
          <a:bodyPr wrap="square" lIns="0" tIns="0" rIns="0" bIns="0" rtlCol="0" anchor="t"/>
          <a:lstStyle/>
          <a:p>
            <a:pPr indent="0" marL="0">
              <a:buNone/>
            </a:pPr>
            <a:r>
              <a:rPr lang="en-US" sz="1300" b="1" dirty="0">
                <a:solidFill>
                  <a:srgbClr val="1E293B"/>
                </a:solidFill>
                <a:latin typeface="Calibri" pitchFamily="34" charset="0"/>
                <a:ea typeface="Calibri" pitchFamily="34" charset="-122"/>
                <a:cs typeface="Calibri" pitchFamily="34" charset="-120"/>
              </a:rPr>
              <a:t>Token budget exceeded</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 Context compression, top-k tuning</a:t>
            </a:r>
            <a:endParaRPr lang="en-US" sz="1300" dirty="0"/>
          </a:p>
          <a:p>
            <a:pPr indent="0" marL="0">
              <a:buNone/>
            </a:pPr>
            <a:endParaRPr lang="en-US" sz="1300" dirty="0"/>
          </a:p>
          <a:p>
            <a:pPr indent="0" marL="0">
              <a:buNone/>
            </a:pPr>
            <a:r>
              <a:rPr lang="en-US" sz="1300" b="1" dirty="0">
                <a:solidFill>
                  <a:srgbClr val="1E293B"/>
                </a:solidFill>
                <a:latin typeface="Calibri" pitchFamily="34" charset="0"/>
                <a:ea typeface="Calibri" pitchFamily="34" charset="-122"/>
                <a:cs typeface="Calibri" pitchFamily="34" charset="-120"/>
              </a:rPr>
              <a:t>Slow retrieval</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 ANN indexes (HNSW), caching</a:t>
            </a:r>
            <a:endParaRPr lang="en-US" sz="1300" dirty="0"/>
          </a:p>
          <a:p>
            <a:pPr indent="0" marL="0">
              <a:buNone/>
            </a:pPr>
            <a:endParaRPr lang="en-US" sz="1300" dirty="0"/>
          </a:p>
          <a:p>
            <a:pPr indent="0" marL="0">
              <a:buNone/>
            </a:pPr>
            <a:r>
              <a:rPr lang="en-US" sz="1300" b="1" dirty="0">
                <a:solidFill>
                  <a:srgbClr val="1E293B"/>
                </a:solidFill>
                <a:latin typeface="Calibri" pitchFamily="34" charset="0"/>
                <a:ea typeface="Calibri" pitchFamily="34" charset="-122"/>
                <a:cs typeface="Calibri" pitchFamily="34" charset="-120"/>
              </a:rPr>
              <a:t>Metadata filtering</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 Structured metadata at ingestion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7316"/>
        </a:solidFill>
      </p:bgPr>
    </p:bg>
    <p:spTree>
      <p:nvGrpSpPr>
        <p:cNvPr id="1" name=""/>
        <p:cNvGrpSpPr/>
        <p:nvPr/>
      </p:nvGrpSpPr>
      <p:grpSpPr>
        <a:xfrm>
          <a:off x="0" y="0"/>
          <a:ext cx="0" cy="0"/>
          <a:chOff x="0" y="0"/>
          <a:chExt cx="0" cy="0"/>
        </a:xfrm>
      </p:grpSpPr>
      <p:sp>
        <p:nvSpPr>
          <p:cNvPr id="2" name="Text 0"/>
          <p:cNvSpPr/>
          <p:nvPr/>
        </p:nvSpPr>
        <p:spPr>
          <a:xfrm>
            <a:off x="0" y="1828800"/>
            <a:ext cx="9144000" cy="457200"/>
          </a:xfrm>
          <a:prstGeom prst="rect">
            <a:avLst/>
          </a:prstGeom>
          <a:noFill/>
          <a:ln/>
        </p:spPr>
        <p:txBody>
          <a:bodyPr wrap="square" lIns="0" tIns="0" rIns="0" bIns="0" rtlCol="0" anchor="ctr"/>
          <a:lstStyle/>
          <a:p>
            <a:pPr algn="ctr" indent="0" marL="0">
              <a:buNone/>
            </a:pPr>
            <a:r>
              <a:rPr lang="en-US" sz="1400" spc="400" kern="0" dirty="0">
                <a:solidFill>
                  <a:srgbClr val="FED7AA"/>
                </a:solidFill>
                <a:latin typeface="Calibri" pitchFamily="34" charset="0"/>
                <a:ea typeface="Calibri" pitchFamily="34" charset="-122"/>
                <a:cs typeface="Calibri" pitchFamily="34" charset="-120"/>
              </a:rPr>
              <a:t>ENTERPRISE SCENARIO</a:t>
            </a:r>
            <a:endParaRPr lang="en-US" sz="1400" dirty="0"/>
          </a:p>
        </p:txBody>
      </p:sp>
      <p:sp>
        <p:nvSpPr>
          <p:cNvPr id="3" name="Text 1"/>
          <p:cNvSpPr/>
          <p:nvPr/>
        </p:nvSpPr>
        <p:spPr>
          <a:xfrm>
            <a:off x="0" y="2286000"/>
            <a:ext cx="9144000" cy="1280160"/>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Legal Document</a:t>
            </a:r>
            <a:endParaRPr lang="en-US" sz="4000" dirty="0"/>
          </a:p>
          <a:p>
            <a:pPr algn="ctr" indent="0" marL="0">
              <a:buNone/>
            </a:pPr>
            <a:r>
              <a:rPr lang="en-US" sz="4000" b="1" dirty="0">
                <a:solidFill>
                  <a:srgbClr val="FFFFFF"/>
                </a:solidFill>
                <a:latin typeface="Georgia" pitchFamily="34" charset="0"/>
                <a:ea typeface="Georgia" pitchFamily="34" charset="-122"/>
                <a:cs typeface="Georgia" pitchFamily="34" charset="-120"/>
              </a:rPr>
              <a:t>Research Assistant</a:t>
            </a:r>
            <a:endParaRPr lang="en-US" sz="4000" dirty="0"/>
          </a:p>
        </p:txBody>
      </p:sp>
      <p:sp>
        <p:nvSpPr>
          <p:cNvPr id="4" name="Text 2"/>
          <p:cNvSpPr/>
          <p:nvPr/>
        </p:nvSpPr>
        <p:spPr>
          <a:xfrm>
            <a:off x="0" y="3749040"/>
            <a:ext cx="9144000" cy="457200"/>
          </a:xfrm>
          <a:prstGeom prst="rect">
            <a:avLst/>
          </a:prstGeom>
          <a:noFill/>
          <a:ln/>
        </p:spPr>
        <p:txBody>
          <a:bodyPr wrap="square" lIns="0" tIns="0" rIns="0" bIns="0" rtlCol="0" anchor="ctr"/>
          <a:lstStyle/>
          <a:p>
            <a:pPr algn="ctr" indent="0" marL="0">
              <a:buNone/>
            </a:pPr>
            <a:r>
              <a:rPr lang="en-US" sz="1500" dirty="0">
                <a:solidFill>
                  <a:srgbClr val="FED7AA"/>
                </a:solidFill>
                <a:latin typeface="Calibri" pitchFamily="34" charset="0"/>
                <a:ea typeface="Calibri" pitchFamily="34" charset="-122"/>
                <a:cs typeface="Calibri" pitchFamily="34" charset="-120"/>
              </a:rPr>
              <a:t>LexisAI — RAG-powered case law search for 50K+ legal documents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1E3A5F"/>
                </a:solidFill>
                <a:latin typeface="Georgia" pitchFamily="34" charset="0"/>
                <a:ea typeface="Georgia" pitchFamily="34" charset="-122"/>
                <a:cs typeface="Georgia" pitchFamily="34" charset="-120"/>
              </a:rPr>
              <a:t>Key Takeaways</a:t>
            </a:r>
            <a:endParaRPr lang="en-US" sz="2800" dirty="0"/>
          </a:p>
        </p:txBody>
      </p:sp>
      <p:sp>
        <p:nvSpPr>
          <p:cNvPr id="3" name="Shape 1"/>
          <p:cNvSpPr/>
          <p:nvPr/>
        </p:nvSpPr>
        <p:spPr>
          <a:xfrm>
            <a:off x="457200" y="1143000"/>
            <a:ext cx="411480" cy="411480"/>
          </a:xfrm>
          <a:prstGeom prst="ellipse">
            <a:avLst/>
          </a:prstGeom>
          <a:solidFill>
            <a:srgbClr val="0D9488"/>
          </a:solidFill>
          <a:ln/>
        </p:spPr>
      </p:sp>
      <p:sp>
        <p:nvSpPr>
          <p:cNvPr id="4" name="Text 2"/>
          <p:cNvSpPr/>
          <p:nvPr/>
        </p:nvSpPr>
        <p:spPr>
          <a:xfrm>
            <a:off x="457200" y="1161288"/>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5" name="Text 3"/>
          <p:cNvSpPr/>
          <p:nvPr/>
        </p:nvSpPr>
        <p:spPr>
          <a:xfrm>
            <a:off x="1097280" y="1143000"/>
            <a:ext cx="758952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RAG grounds LLM responses in external knowledge, reducing hallucinations and enabling citations</a:t>
            </a:r>
            <a:endParaRPr lang="en-US" sz="1300" dirty="0"/>
          </a:p>
        </p:txBody>
      </p:sp>
      <p:sp>
        <p:nvSpPr>
          <p:cNvPr id="6" name="Shape 4"/>
          <p:cNvSpPr/>
          <p:nvPr/>
        </p:nvSpPr>
        <p:spPr>
          <a:xfrm>
            <a:off x="457200" y="1783080"/>
            <a:ext cx="411480" cy="411480"/>
          </a:xfrm>
          <a:prstGeom prst="ellipse">
            <a:avLst/>
          </a:prstGeom>
          <a:solidFill>
            <a:srgbClr val="F97316"/>
          </a:solidFill>
          <a:ln/>
        </p:spPr>
      </p:sp>
      <p:sp>
        <p:nvSpPr>
          <p:cNvPr id="7" name="Text 5"/>
          <p:cNvSpPr/>
          <p:nvPr/>
        </p:nvSpPr>
        <p:spPr>
          <a:xfrm>
            <a:off x="457200" y="1801368"/>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8" name="Text 6"/>
          <p:cNvSpPr/>
          <p:nvPr/>
        </p:nvSpPr>
        <p:spPr>
          <a:xfrm>
            <a:off x="1097280" y="1783080"/>
            <a:ext cx="758952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Embeddings convert text to semantic vectors; chunking strategy directly impacts retrieval quality</a:t>
            </a:r>
            <a:endParaRPr lang="en-US" sz="1300" dirty="0"/>
          </a:p>
        </p:txBody>
      </p:sp>
      <p:sp>
        <p:nvSpPr>
          <p:cNvPr id="9" name="Shape 7"/>
          <p:cNvSpPr/>
          <p:nvPr/>
        </p:nvSpPr>
        <p:spPr>
          <a:xfrm>
            <a:off x="457200" y="2423160"/>
            <a:ext cx="411480" cy="411480"/>
          </a:xfrm>
          <a:prstGeom prst="ellipse">
            <a:avLst/>
          </a:prstGeom>
          <a:solidFill>
            <a:srgbClr val="8B5CF6"/>
          </a:solidFill>
          <a:ln/>
        </p:spPr>
      </p:sp>
      <p:sp>
        <p:nvSpPr>
          <p:cNvPr id="10" name="Text 8"/>
          <p:cNvSpPr/>
          <p:nvPr/>
        </p:nvSpPr>
        <p:spPr>
          <a:xfrm>
            <a:off x="457200" y="2441448"/>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1" name="Text 9"/>
          <p:cNvSpPr/>
          <p:nvPr/>
        </p:nvSpPr>
        <p:spPr>
          <a:xfrm>
            <a:off x="1097280" y="2423160"/>
            <a:ext cx="758952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Vector databases (Pinecone, Chroma, FAISS) enable fast similarity search at scale</a:t>
            </a:r>
            <a:endParaRPr lang="en-US" sz="1300" dirty="0"/>
          </a:p>
        </p:txBody>
      </p:sp>
      <p:sp>
        <p:nvSpPr>
          <p:cNvPr id="12" name="Shape 10"/>
          <p:cNvSpPr/>
          <p:nvPr/>
        </p:nvSpPr>
        <p:spPr>
          <a:xfrm>
            <a:off x="457200" y="3063240"/>
            <a:ext cx="411480" cy="411480"/>
          </a:xfrm>
          <a:prstGeom prst="ellipse">
            <a:avLst/>
          </a:prstGeom>
          <a:solidFill>
            <a:srgbClr val="3B82F6"/>
          </a:solidFill>
          <a:ln/>
        </p:spPr>
      </p:sp>
      <p:sp>
        <p:nvSpPr>
          <p:cNvPr id="13" name="Text 11"/>
          <p:cNvSpPr/>
          <p:nvPr/>
        </p:nvSpPr>
        <p:spPr>
          <a:xfrm>
            <a:off x="457200" y="3081528"/>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4" name="Text 12"/>
          <p:cNvSpPr/>
          <p:nvPr/>
        </p:nvSpPr>
        <p:spPr>
          <a:xfrm>
            <a:off x="1097280" y="3063240"/>
            <a:ext cx="758952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Advanced retrieval: hybrid search, re-ranking, multi-query, and self-query improve precision</a:t>
            </a:r>
            <a:endParaRPr lang="en-US" sz="1300" dirty="0"/>
          </a:p>
        </p:txBody>
      </p:sp>
      <p:sp>
        <p:nvSpPr>
          <p:cNvPr id="15" name="Shape 13"/>
          <p:cNvSpPr/>
          <p:nvPr/>
        </p:nvSpPr>
        <p:spPr>
          <a:xfrm>
            <a:off x="457200" y="3703320"/>
            <a:ext cx="411480" cy="411480"/>
          </a:xfrm>
          <a:prstGeom prst="ellipse">
            <a:avLst/>
          </a:prstGeom>
          <a:solidFill>
            <a:srgbClr val="0D9488"/>
          </a:solidFill>
          <a:ln/>
        </p:spPr>
      </p:sp>
      <p:sp>
        <p:nvSpPr>
          <p:cNvPr id="16" name="Text 14"/>
          <p:cNvSpPr/>
          <p:nvPr/>
        </p:nvSpPr>
        <p:spPr>
          <a:xfrm>
            <a:off x="457200" y="3721608"/>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17" name="Text 15"/>
          <p:cNvSpPr/>
          <p:nvPr/>
        </p:nvSpPr>
        <p:spPr>
          <a:xfrm>
            <a:off x="1097280" y="3703320"/>
            <a:ext cx="758952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Evaluate with faithfulness, relevance, context recall, and answer correctness metrics</a:t>
            </a:r>
            <a:endParaRPr lang="en-US" sz="1300" dirty="0"/>
          </a:p>
        </p:txBody>
      </p:sp>
      <p:sp>
        <p:nvSpPr>
          <p:cNvPr id="18" name="Shape 16"/>
          <p:cNvSpPr/>
          <p:nvPr/>
        </p:nvSpPr>
        <p:spPr>
          <a:xfrm>
            <a:off x="457200" y="4343400"/>
            <a:ext cx="411480" cy="411480"/>
          </a:xfrm>
          <a:prstGeom prst="ellipse">
            <a:avLst/>
          </a:prstGeom>
          <a:solidFill>
            <a:srgbClr val="F97316"/>
          </a:solidFill>
          <a:ln/>
        </p:spPr>
      </p:sp>
      <p:sp>
        <p:nvSpPr>
          <p:cNvPr id="19" name="Text 17"/>
          <p:cNvSpPr/>
          <p:nvPr/>
        </p:nvSpPr>
        <p:spPr>
          <a:xfrm>
            <a:off x="457200" y="4361688"/>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0" name="Text 18"/>
          <p:cNvSpPr/>
          <p:nvPr/>
        </p:nvSpPr>
        <p:spPr>
          <a:xfrm>
            <a:off x="1097280" y="4343400"/>
            <a:ext cx="758952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Production RAG requires incremental indexing, caching, monitoring, and continuous evaluation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3A5F"/>
        </a:solidFill>
      </p:bgPr>
    </p:bg>
    <p:spTree>
      <p:nvGrpSpPr>
        <p:cNvPr id="1" name=""/>
        <p:cNvGrpSpPr/>
        <p:nvPr/>
      </p:nvGrpSpPr>
      <p:grpSpPr>
        <a:xfrm>
          <a:off x="0" y="0"/>
          <a:ext cx="0" cy="0"/>
          <a:chOff x="0" y="0"/>
          <a:chExt cx="0" cy="0"/>
        </a:xfrm>
      </p:grpSpPr>
      <p:sp>
        <p:nvSpPr>
          <p:cNvPr id="2" name="Shape 0"/>
          <p:cNvSpPr/>
          <p:nvPr/>
        </p:nvSpPr>
        <p:spPr>
          <a:xfrm>
            <a:off x="2743200" y="2011680"/>
            <a:ext cx="3657600" cy="36576"/>
          </a:xfrm>
          <a:prstGeom prst="rect">
            <a:avLst/>
          </a:prstGeom>
          <a:solidFill>
            <a:srgbClr val="0D9488"/>
          </a:solidFill>
          <a:ln/>
        </p:spPr>
      </p:sp>
      <p:sp>
        <p:nvSpPr>
          <p:cNvPr id="3" name="Text 1"/>
          <p:cNvSpPr/>
          <p:nvPr/>
        </p:nvSpPr>
        <p:spPr>
          <a:xfrm>
            <a:off x="0" y="2286000"/>
            <a:ext cx="9144000" cy="822960"/>
          </a:xfrm>
          <a:prstGeom prst="rect">
            <a:avLst/>
          </a:prstGeom>
          <a:noFill/>
          <a:ln/>
        </p:spPr>
        <p:txBody>
          <a:bodyPr wrap="square" lIns="0" tIns="0" rIns="0" bIns="0"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Thank You</a:t>
            </a:r>
            <a:endParaRPr lang="en-US" sz="4200" dirty="0"/>
          </a:p>
        </p:txBody>
      </p:sp>
      <p:sp>
        <p:nvSpPr>
          <p:cNvPr id="4" name="Text 2"/>
          <p:cNvSpPr/>
          <p:nvPr/>
        </p:nvSpPr>
        <p:spPr>
          <a:xfrm>
            <a:off x="0" y="3108960"/>
            <a:ext cx="9144000" cy="457200"/>
          </a:xfrm>
          <a:prstGeom prst="rect">
            <a:avLst/>
          </a:prstGeom>
          <a:noFill/>
          <a:ln/>
        </p:spPr>
        <p:txBody>
          <a:bodyPr wrap="square" lIns="0" tIns="0" rIns="0" bIns="0" rtlCol="0" anchor="ctr"/>
          <a:lstStyle/>
          <a:p>
            <a:pPr algn="ctr" indent="0" marL="0">
              <a:buNone/>
            </a:pPr>
            <a:r>
              <a:rPr lang="en-US" sz="2000" dirty="0">
                <a:solidFill>
                  <a:srgbClr val="0D9488"/>
                </a:solidFill>
                <a:latin typeface="Calibri" pitchFamily="34" charset="0"/>
                <a:ea typeface="Calibri" pitchFamily="34" charset="-122"/>
                <a:cs typeface="Calibri" pitchFamily="34" charset="-120"/>
              </a:rPr>
              <a:t>Questions &amp; Discussion</a:t>
            </a:r>
            <a:endParaRPr lang="en-US" sz="2000" dirty="0"/>
          </a:p>
        </p:txBody>
      </p:sp>
      <p:sp>
        <p:nvSpPr>
          <p:cNvPr id="5" name="Shape 3"/>
          <p:cNvSpPr/>
          <p:nvPr/>
        </p:nvSpPr>
        <p:spPr>
          <a:xfrm>
            <a:off x="2743200" y="3749040"/>
            <a:ext cx="3657600" cy="36576"/>
          </a:xfrm>
          <a:prstGeom prst="rect">
            <a:avLst/>
          </a:prstGeom>
          <a:solidFill>
            <a:srgbClr val="0D9488"/>
          </a:solidFill>
          <a:ln/>
        </p:spPr>
      </p:sp>
      <p:sp>
        <p:nvSpPr>
          <p:cNvPr id="6" name="Text 4"/>
          <p:cNvSpPr/>
          <p:nvPr/>
        </p:nvSpPr>
        <p:spPr>
          <a:xfrm>
            <a:off x="0" y="4023360"/>
            <a:ext cx="9144000" cy="365760"/>
          </a:xfrm>
          <a:prstGeom prst="rect">
            <a:avLst/>
          </a:prstGeom>
          <a:noFill/>
          <a:ln/>
        </p:spPr>
        <p:txBody>
          <a:bodyPr wrap="square" lIns="0" tIns="0" rIns="0" bIns="0"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Next: Module 2 — Agentic Systems</a:t>
            </a:r>
            <a:endParaRPr lang="en-US" sz="1400" dirty="0"/>
          </a:p>
        </p:txBody>
      </p:sp>
      <p:sp>
        <p:nvSpPr>
          <p:cNvPr id="7" name="Text 5"/>
          <p:cNvSpPr/>
          <p:nvPr/>
        </p:nvSpPr>
        <p:spPr>
          <a:xfrm>
            <a:off x="0" y="4389120"/>
            <a:ext cx="9144000" cy="36576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Applied AI Course  |  Part 1: Foundations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 &amp; Vector Databases</dc:title>
  <dc:subject>PptxGenJS Presentation</dc:subject>
  <dc:creator>PptxGenJS</dc:creator>
  <cp:lastModifiedBy>PptxGenJS</cp:lastModifiedBy>
  <cp:revision>1</cp:revision>
  <dcterms:created xsi:type="dcterms:W3CDTF">2026-04-02T06:24:26Z</dcterms:created>
  <dcterms:modified xsi:type="dcterms:W3CDTF">2026-04-02T06:24:26Z</dcterms:modified>
</cp:coreProperties>
</file>