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7. Module 7 covers production AI architecture: microservices vs monolith, API gateway patterns, async processing, model serving, caching, load balancing, scaling strategies, reliability patterns, and cost optimization.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AI teams start with a modular monolith — single deployable, internally organized modules. Migrate to microservices when: different scaling needs (GPU vs CPU), independent deployment cycles, regulatory isolation, or multi-API serving. Hybrid approach: modular monolith is the sweet spot for most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Gateway is the single entry point for all client requests. For AI: model routing (complexity-based), token metering (budget enforcement), request queuing (spike buffering), A/B testing (safe rollouts), and guard rails (input/output validation). Solutions: Kong, AWS API Gateway, Envoy, LiteLLM.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serving options: vLLM (high-throughput, PagedAttention, OpenAI-compatible), TGI (HuggingFace optimized), ONNX Runtime (cross-platform), Triton (NVIDIA multi-model, dynamic batching). Choose based on: model type, latency requirements, throughput needs, and infrastructure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optimization strategies: auto-scaling (scale on queue depth/latency/GPU utilization), model routing (simple queries → cheap model, complex → premium), semantic caching (cache similar queries), request batching (GPU efficiency), and multi-region deployment for reliability.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key takeaways on architecture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concludes MODULE 7. Students should review the concepts, interview questions, and quiz materials before proceeding.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Scaling, Reliability &amp; Cost Trade-offs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Course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Foundations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731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21208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vs Monolith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9385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12080" y="1984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Patterns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5054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12080" y="25511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Processing &amp; Queues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0723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12080" y="31181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Architectures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3639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12080" y="36850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&amp; Cost Optimization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Choices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deployable artifact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calls (sub-ms latency)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complexity initially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everything together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small teams, &lt;5 models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service deployment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calls (1-10ms latency)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complexity (service mesh)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individual components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large teams, 10+ models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Gateway for AI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different models by task complexity. Simple → GPT-3.5, complex → GPT-4.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80160"/>
            <a:ext cx="502920" cy="502920"/>
          </a:xfrm>
          <a:prstGeom prst="ellipse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Metering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enforce token budgets per user/org. 1M tokens/day per org.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traffic between model versions. 90% v1, 10% v2 for safe rollouts.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200400"/>
            <a:ext cx="502920" cy="502920"/>
          </a:xfrm>
          <a:prstGeom prst="ellipse">
            <a:avLst/>
          </a:prstGeom>
          <a:solidFill>
            <a:srgbClr val="3B82F6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Rails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 validation at the edge. PII detection, content filters.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Serving Architectures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High-throughput serving with PagedAttention. OpenAI-compatible API.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80160"/>
            <a:ext cx="502920" cy="502920"/>
          </a:xfrm>
          <a:prstGeom prst="ellipse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HuggingFace's Text Generation Inference. Optimized for HF models.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optimized inference. CPU and GPU support.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200400"/>
            <a:ext cx="502920" cy="502920"/>
          </a:xfrm>
          <a:prstGeom prst="ellipse">
            <a:avLst/>
          </a:prstGeom>
          <a:solidFill>
            <a:srgbClr val="3B82F6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Triton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NVIDIA's multi-model serving. Dynamic batching, model ensembles.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&amp; Cost Optimization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production metrics and strategies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0312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based on queue depth, latency, or GPU utilization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371600"/>
            <a:ext cx="73152" cy="1554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$$$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0936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194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simple queries to cheaper models, complex to premium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08960"/>
            <a:ext cx="73152" cy="1554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Cache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10312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931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similar queries to avoid redundant LLM calls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1089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108960"/>
            <a:ext cx="73152" cy="1554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30936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Batching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931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multiple requests for GPU efficiency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61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1430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modular monolith; migrate to microservices when scaling/isolation demands 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01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handles routing, metering, A/B testing, and guard rails at the edge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41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4231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serving: vLLM for throughput, TGI for HF models, Triton for multi-model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81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0632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optimization: model routing, semantic caching, batching, and auto-scaling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21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7033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 circuit breakers, retries, fallbacks, health checks, and observability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2011680"/>
            <a:ext cx="3657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286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0" y="3749040"/>
            <a:ext cx="3657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023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Module 6 — CI/CD for AI Systems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Course  |  Part 1: Foundations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Design</dc:title>
  <dc:subject>PptxGenJS Presentation</dc:subject>
  <dc:creator>PptxGenJS</dc:creator>
  <cp:lastModifiedBy>PptxGenJS</cp:lastModifiedBy>
  <cp:revision>1</cp:revision>
  <dcterms:created xsi:type="dcterms:W3CDTF">2026-04-02T06:24:26Z</dcterms:created>
  <dcterms:modified xsi:type="dcterms:W3CDTF">2026-04-02T06:24:26Z</dcterms:modified>
</cp:coreProperties>
</file>