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13. Module 13 covers LLMOps — the practices, tools, and processes for deploying and maintaining LLM apps in production. We compare LLMOps vs MLOps, cover the AI lifecycle, experiment tracking with MLflow, infrastructure setup, deployment strategies, monitoring, security, and cost optimization.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LLMOps extends MLOps with LLM-specific concerns. MLOps: custom-trained models, weights + pipeline, accuracy/F1/AUC, feature stores, retrain on new data. LLMOps: pre-trained foundation models, prompts/chains/agents, hallucination/faithfulness/toxicity, prompt templates/RAG corpora, prompt tuning/RAG updates/model swaps. Core artifacts shift from model weights to prompt templates and orchestration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lifecycle: Design (use case, architecture, constraints) → Build (prompt eng, RAG, chains, agents) → Evaluate (offline evals, online A/B) → Deploy (canary, blue-green) → Monitor (latency, cost, quality, safety) → Feedback loop. Experiment tracking with MLflow: log parameters, metrics, prompt templates, and model artifacts for reproducibility.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LLMOps concepts: Model Registry (version tracking, stage management), Experiment Tracking (log prompts, params, metrics — MLflow), Pipeline Orchestration (automate data → inference → eval → deploy), Feature Store (RAG chunks, embedding indexes), A/B Testing (live traffic comparison), Guard Rails (input/output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optimization: Model routing (simple → cheap, complex → premium — 40-60% savings), Semantic caching (cache similar queries — 30-60% savings), Batch processing (lower per-token cost for non-real-time), Open-source models (self-host for high-volume tasks), Prompt optimization (reduce token usage), Token budget enforcement (per-user/org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key takeaways on LLMOps.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concludes MODULE 13. Students should review the concepts, interview questions, and quiz materials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1E3A5F"/>
          </a:solidFill>
          <a:ln/>
        </p:spPr>
      </p:sp>
      <p:sp>
        <p:nvSpPr>
          <p:cNvPr id="3" name="Shape 1"/>
          <p:cNvSpPr/>
          <p:nvPr/>
        </p:nvSpPr>
        <p:spPr>
          <a:xfrm>
            <a:off x="4114800" y="0"/>
            <a:ext cx="73152" cy="5143500"/>
          </a:xfrm>
          <a:prstGeom prst="rect">
            <a:avLst/>
          </a:prstGeom>
          <a:solidFill>
            <a:srgbClr val="0D9488"/>
          </a:solidFill>
          <a:ln/>
        </p:spPr>
      </p:sp>
      <p:sp>
        <p:nvSpPr>
          <p:cNvPr id="4" name="Text 2"/>
          <p:cNvSpPr/>
          <p:nvPr/>
        </p:nvSpPr>
        <p:spPr>
          <a:xfrm>
            <a:off x="457200" y="1097280"/>
            <a:ext cx="3200400" cy="365760"/>
          </a:xfrm>
          <a:prstGeom prst="rect">
            <a:avLst/>
          </a:prstGeom>
          <a:noFill/>
          <a:ln/>
        </p:spPr>
        <p:txBody>
          <a:bodyPr wrap="square" lIns="0" tIns="0" rIns="0" bIns="0" rtlCol="0" anchor="ctr"/>
          <a:lstStyle/>
          <a:p>
            <a:pPr indent="0" marL="0">
              <a:buNone/>
            </a:pPr>
            <a:r>
              <a:rPr lang="en-US" sz="1200" b="1" spc="400" kern="0" dirty="0">
                <a:solidFill>
                  <a:srgbClr val="0D9488"/>
                </a:solidFill>
                <a:latin typeface="Calibri" pitchFamily="34" charset="0"/>
                <a:ea typeface="Calibri" pitchFamily="34" charset="-122"/>
                <a:cs typeface="Calibri" pitchFamily="34" charset="-120"/>
              </a:rPr>
              <a:t>MODULE 13</a:t>
            </a:r>
            <a:endParaRPr lang="en-US" sz="1200" dirty="0"/>
          </a:p>
        </p:txBody>
      </p:sp>
      <p:sp>
        <p:nvSpPr>
          <p:cNvPr id="5" name="Text 3"/>
          <p:cNvSpPr/>
          <p:nvPr/>
        </p:nvSpPr>
        <p:spPr>
          <a:xfrm>
            <a:off x="457200" y="1554480"/>
            <a:ext cx="3200400" cy="128016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LLMOps</a:t>
            </a:r>
            <a:endParaRPr lang="en-US" sz="3000" dirty="0"/>
          </a:p>
        </p:txBody>
      </p:sp>
      <p:sp>
        <p:nvSpPr>
          <p:cNvPr id="6" name="Text 4"/>
          <p:cNvSpPr/>
          <p:nvPr/>
        </p:nvSpPr>
        <p:spPr>
          <a:xfrm>
            <a:off x="457200" y="2926080"/>
            <a:ext cx="32004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Operations for LLM Applications at Scale</a:t>
            </a:r>
            <a:endParaRPr lang="en-US" sz="1300" dirty="0"/>
          </a:p>
        </p:txBody>
      </p:sp>
      <p:sp>
        <p:nvSpPr>
          <p:cNvPr id="7" name="Text 5"/>
          <p:cNvSpPr/>
          <p:nvPr/>
        </p:nvSpPr>
        <p:spPr>
          <a:xfrm>
            <a:off x="457200" y="3657600"/>
            <a:ext cx="3200400" cy="9144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Applied AI Course</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Part 1: Foundations</a:t>
            </a:r>
            <a:endParaRPr lang="en-US" sz="1100" dirty="0"/>
          </a:p>
          <a:p>
            <a:pPr indent="0" marL="0">
              <a:buNone/>
            </a:pPr>
            <a:r>
              <a:rPr lang="en-US" sz="1100" dirty="0">
                <a:solidFill>
                  <a:srgbClr val="0D9488"/>
                </a:solidFill>
                <a:latin typeface="Calibri" pitchFamily="34" charset="0"/>
                <a:ea typeface="Calibri" pitchFamily="34" charset="-122"/>
                <a:cs typeface="Calibri" pitchFamily="34" charset="-120"/>
              </a:rPr>
              <a:t>2026</a:t>
            </a:r>
            <a:endParaRPr lang="en-US" sz="1100" dirty="0"/>
          </a:p>
        </p:txBody>
      </p:sp>
      <p:sp>
        <p:nvSpPr>
          <p:cNvPr id="8" name="Text 6"/>
          <p:cNvSpPr/>
          <p:nvPr/>
        </p:nvSpPr>
        <p:spPr>
          <a:xfrm>
            <a:off x="4572000" y="731520"/>
            <a:ext cx="4114800" cy="457200"/>
          </a:xfrm>
          <a:prstGeom prst="rect">
            <a:avLst/>
          </a:prstGeom>
          <a:noFill/>
          <a:ln/>
        </p:spPr>
        <p:txBody>
          <a:bodyPr wrap="square" lIns="0" tIns="0" rIns="0" bIns="0" rtlCol="0" anchor="ctr"/>
          <a:lstStyle/>
          <a:p>
            <a:pPr indent="0" marL="0">
              <a:buNone/>
            </a:pPr>
            <a:r>
              <a:rPr lang="en-US" sz="1400" b="1" spc="400" kern="0" dirty="0">
                <a:solidFill>
                  <a:srgbClr val="0D9488"/>
                </a:solidFill>
                <a:latin typeface="Calibri" pitchFamily="34" charset="0"/>
                <a:ea typeface="Calibri" pitchFamily="34" charset="-122"/>
                <a:cs typeface="Calibri" pitchFamily="34" charset="-120"/>
              </a:rPr>
              <a:t>AGENDA</a:t>
            </a:r>
            <a:endParaRPr lang="en-US" sz="1400" dirty="0"/>
          </a:p>
        </p:txBody>
      </p:sp>
      <p:sp>
        <p:nvSpPr>
          <p:cNvPr id="9" name="Text 7"/>
          <p:cNvSpPr/>
          <p:nvPr/>
        </p:nvSpPr>
        <p:spPr>
          <a:xfrm>
            <a:off x="4572000" y="1371600"/>
            <a:ext cx="548640" cy="365760"/>
          </a:xfrm>
          <a:prstGeom prst="rect">
            <a:avLst/>
          </a:prstGeom>
          <a:noFill/>
          <a:ln/>
        </p:spPr>
        <p:txBody>
          <a:bodyPr wrap="square" lIns="0" tIns="0" rIns="0" bIns="0" rtlCol="0" anchor="ctr"/>
          <a:lstStyle/>
          <a:p>
            <a:pPr indent="0" marL="0">
              <a:buNone/>
            </a:pPr>
            <a:r>
              <a:rPr lang="en-US" sz="2000" b="1" dirty="0">
                <a:solidFill>
                  <a:srgbClr val="0D9488"/>
                </a:solidFill>
                <a:latin typeface="Georgia" pitchFamily="34" charset="0"/>
                <a:ea typeface="Georgia" pitchFamily="34" charset="-122"/>
                <a:cs typeface="Georgia" pitchFamily="34" charset="-120"/>
              </a:rPr>
              <a:t>01</a:t>
            </a:r>
            <a:endParaRPr lang="en-US" sz="2000" dirty="0"/>
          </a:p>
        </p:txBody>
      </p:sp>
      <p:sp>
        <p:nvSpPr>
          <p:cNvPr id="10" name="Text 8"/>
          <p:cNvSpPr/>
          <p:nvPr/>
        </p:nvSpPr>
        <p:spPr>
          <a:xfrm>
            <a:off x="5212080" y="1417320"/>
            <a:ext cx="3474720" cy="3657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LLMOps vs MLOps</a:t>
            </a:r>
            <a:endParaRPr lang="en-US" sz="1400" dirty="0"/>
          </a:p>
        </p:txBody>
      </p:sp>
      <p:sp>
        <p:nvSpPr>
          <p:cNvPr id="11" name="Text 9"/>
          <p:cNvSpPr/>
          <p:nvPr/>
        </p:nvSpPr>
        <p:spPr>
          <a:xfrm>
            <a:off x="4572000" y="1938528"/>
            <a:ext cx="548640" cy="365760"/>
          </a:xfrm>
          <a:prstGeom prst="rect">
            <a:avLst/>
          </a:prstGeom>
          <a:noFill/>
          <a:ln/>
        </p:spPr>
        <p:txBody>
          <a:bodyPr wrap="square" lIns="0" tIns="0" rIns="0" bIns="0" rtlCol="0" anchor="ctr"/>
          <a:lstStyle/>
          <a:p>
            <a:pPr indent="0" marL="0">
              <a:buNone/>
            </a:pPr>
            <a:r>
              <a:rPr lang="en-US" sz="2000" b="1" dirty="0">
                <a:solidFill>
                  <a:srgbClr val="F97316"/>
                </a:solidFill>
                <a:latin typeface="Georgia" pitchFamily="34" charset="0"/>
                <a:ea typeface="Georgia" pitchFamily="34" charset="-122"/>
                <a:cs typeface="Georgia" pitchFamily="34" charset="-120"/>
              </a:rPr>
              <a:t>02</a:t>
            </a:r>
            <a:endParaRPr lang="en-US" sz="2000" dirty="0"/>
          </a:p>
        </p:txBody>
      </p:sp>
      <p:sp>
        <p:nvSpPr>
          <p:cNvPr id="12" name="Text 10"/>
          <p:cNvSpPr/>
          <p:nvPr/>
        </p:nvSpPr>
        <p:spPr>
          <a:xfrm>
            <a:off x="5212080" y="1984248"/>
            <a:ext cx="3474720" cy="3657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AI Lifecycle &amp; Experiment Tracking</a:t>
            </a:r>
            <a:endParaRPr lang="en-US" sz="1400" dirty="0"/>
          </a:p>
        </p:txBody>
      </p:sp>
      <p:sp>
        <p:nvSpPr>
          <p:cNvPr id="13" name="Text 11"/>
          <p:cNvSpPr/>
          <p:nvPr/>
        </p:nvSpPr>
        <p:spPr>
          <a:xfrm>
            <a:off x="4572000" y="2505456"/>
            <a:ext cx="548640" cy="365760"/>
          </a:xfrm>
          <a:prstGeom prst="rect">
            <a:avLst/>
          </a:prstGeom>
          <a:noFill/>
          <a:ln/>
        </p:spPr>
        <p:txBody>
          <a:bodyPr wrap="square" lIns="0" tIns="0" rIns="0" bIns="0" rtlCol="0" anchor="ctr"/>
          <a:lstStyle/>
          <a:p>
            <a:pPr indent="0" marL="0">
              <a:buNone/>
            </a:pPr>
            <a:r>
              <a:rPr lang="en-US" sz="2000" b="1" dirty="0">
                <a:solidFill>
                  <a:srgbClr val="8B5CF6"/>
                </a:solidFill>
                <a:latin typeface="Georgia" pitchFamily="34" charset="0"/>
                <a:ea typeface="Georgia" pitchFamily="34" charset="-122"/>
                <a:cs typeface="Georgia" pitchFamily="34" charset="-120"/>
              </a:rPr>
              <a:t>03</a:t>
            </a:r>
            <a:endParaRPr lang="en-US" sz="2000" dirty="0"/>
          </a:p>
        </p:txBody>
      </p:sp>
      <p:sp>
        <p:nvSpPr>
          <p:cNvPr id="14" name="Text 12"/>
          <p:cNvSpPr/>
          <p:nvPr/>
        </p:nvSpPr>
        <p:spPr>
          <a:xfrm>
            <a:off x="5212080" y="2551176"/>
            <a:ext cx="3474720" cy="3657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Infrastructure &amp; Deployment</a:t>
            </a:r>
            <a:endParaRPr lang="en-US" sz="1400" dirty="0"/>
          </a:p>
        </p:txBody>
      </p:sp>
      <p:sp>
        <p:nvSpPr>
          <p:cNvPr id="15" name="Text 13"/>
          <p:cNvSpPr/>
          <p:nvPr/>
        </p:nvSpPr>
        <p:spPr>
          <a:xfrm>
            <a:off x="4572000" y="3072384"/>
            <a:ext cx="548640" cy="365760"/>
          </a:xfrm>
          <a:prstGeom prst="rect">
            <a:avLst/>
          </a:prstGeom>
          <a:noFill/>
          <a:ln/>
        </p:spPr>
        <p:txBody>
          <a:bodyPr wrap="square" lIns="0" tIns="0" rIns="0" bIns="0" rtlCol="0" anchor="ctr"/>
          <a:lstStyle/>
          <a:p>
            <a:pPr indent="0" marL="0">
              <a:buNone/>
            </a:pPr>
            <a:r>
              <a:rPr lang="en-US" sz="2000" b="1" dirty="0">
                <a:solidFill>
                  <a:srgbClr val="3B82F6"/>
                </a:solidFill>
                <a:latin typeface="Georgia" pitchFamily="34" charset="0"/>
                <a:ea typeface="Georgia" pitchFamily="34" charset="-122"/>
                <a:cs typeface="Georgia" pitchFamily="34" charset="-120"/>
              </a:rPr>
              <a:t>04</a:t>
            </a:r>
            <a:endParaRPr lang="en-US" sz="2000" dirty="0"/>
          </a:p>
        </p:txBody>
      </p:sp>
      <p:sp>
        <p:nvSpPr>
          <p:cNvPr id="16" name="Text 14"/>
          <p:cNvSpPr/>
          <p:nvPr/>
        </p:nvSpPr>
        <p:spPr>
          <a:xfrm>
            <a:off x="5212080" y="3118104"/>
            <a:ext cx="3474720" cy="36576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Monitoring, Security &amp; Cost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600" b="1" dirty="0">
                <a:solidFill>
                  <a:srgbClr val="1E3A5F"/>
                </a:solidFill>
                <a:latin typeface="Georgia" pitchFamily="34" charset="0"/>
                <a:ea typeface="Georgia" pitchFamily="34" charset="-122"/>
                <a:cs typeface="Georgia" pitchFamily="34" charset="-120"/>
              </a:rPr>
              <a:t>LLMOps vs MLOps</a:t>
            </a:r>
            <a:endParaRPr lang="en-US" sz="2600" dirty="0"/>
          </a:p>
        </p:txBody>
      </p:sp>
      <p:sp>
        <p:nvSpPr>
          <p:cNvPr id="3" name="Shape 1"/>
          <p:cNvSpPr/>
          <p:nvPr/>
        </p:nvSpPr>
        <p:spPr>
          <a:xfrm>
            <a:off x="457200" y="1097280"/>
            <a:ext cx="3931920" cy="3657600"/>
          </a:xfrm>
          <a:prstGeom prst="rect">
            <a:avLst/>
          </a:prstGeom>
          <a:solidFill>
            <a:srgbClr val="F0FDFA"/>
          </a:solidFill>
          <a:ln/>
          <a:effectLst>
            <a:outerShdw sx="100000" sy="100000" kx="0" ky="0" algn="bl" rotWithShape="0" blurRad="76200" dist="25400" dir="8100000">
              <a:srgbClr val="000000">
                <a:alpha val="8000"/>
              </a:srgbClr>
            </a:outerShdw>
          </a:effectLst>
        </p:spPr>
      </p:sp>
      <p:sp>
        <p:nvSpPr>
          <p:cNvPr id="4" name="Shape 2"/>
          <p:cNvSpPr/>
          <p:nvPr/>
        </p:nvSpPr>
        <p:spPr>
          <a:xfrm>
            <a:off x="457200" y="1097280"/>
            <a:ext cx="3931920" cy="457200"/>
          </a:xfrm>
          <a:prstGeom prst="rect">
            <a:avLst/>
          </a:prstGeom>
          <a:solidFill>
            <a:srgbClr val="0D9488"/>
          </a:solidFill>
          <a:ln/>
        </p:spPr>
      </p:sp>
      <p:sp>
        <p:nvSpPr>
          <p:cNvPr id="5" name="Text 3"/>
          <p:cNvSpPr/>
          <p:nvPr/>
        </p:nvSpPr>
        <p:spPr>
          <a:xfrm>
            <a:off x="457200" y="114300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MLOPS</a:t>
            </a:r>
            <a:endParaRPr lang="en-US" sz="1400" dirty="0"/>
          </a:p>
        </p:txBody>
      </p:sp>
      <p:sp>
        <p:nvSpPr>
          <p:cNvPr id="6" name="Text 4"/>
          <p:cNvSpPr/>
          <p:nvPr/>
        </p:nvSpPr>
        <p:spPr>
          <a:xfrm>
            <a:off x="640080" y="1737360"/>
            <a:ext cx="3566160" cy="2743200"/>
          </a:xfrm>
          <a:prstGeom prst="rect">
            <a:avLst/>
          </a:prstGeom>
          <a:noFill/>
          <a:ln/>
        </p:spPr>
        <p:txBody>
          <a:bodyPr wrap="square" lIns="0" tIns="0" rIns="0" bIns="0" rtlCol="0" anchor="t"/>
          <a:lstStyle/>
          <a:p>
            <a:pPr indent="0" marL="0">
              <a:buNone/>
            </a:pPr>
            <a:r>
              <a:rPr lang="en-US" sz="1300" b="1" dirty="0">
                <a:solidFill>
                  <a:srgbClr val="1E293B"/>
                </a:solidFill>
                <a:latin typeface="Calibri" pitchFamily="34" charset="0"/>
                <a:ea typeface="Calibri" pitchFamily="34" charset="-122"/>
                <a:cs typeface="Calibri" pitchFamily="34" charset="-120"/>
              </a:rPr>
              <a:t>Custom-trained models</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Model weights + training pipeline</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Accuracy, F1, AUC metrics</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Feature stores, labeled data</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Retrain on new data</a:t>
            </a:r>
            <a:endParaRPr lang="en-US" sz="1300" dirty="0"/>
          </a:p>
        </p:txBody>
      </p:sp>
      <p:sp>
        <p:nvSpPr>
          <p:cNvPr id="7" name="Shape 5"/>
          <p:cNvSpPr/>
          <p:nvPr/>
        </p:nvSpPr>
        <p:spPr>
          <a:xfrm>
            <a:off x="4754880" y="1097280"/>
            <a:ext cx="3931920" cy="3657600"/>
          </a:xfrm>
          <a:prstGeom prst="rect">
            <a:avLst/>
          </a:prstGeom>
          <a:solidFill>
            <a:srgbClr val="FFF7ED"/>
          </a:solidFill>
          <a:ln/>
          <a:effectLst>
            <a:outerShdw sx="100000" sy="100000" kx="0" ky="0" algn="bl" rotWithShape="0" blurRad="76200" dist="25400" dir="8100000">
              <a:srgbClr val="000000">
                <a:alpha val="8000"/>
              </a:srgbClr>
            </a:outerShdw>
          </a:effectLst>
        </p:spPr>
      </p:sp>
      <p:sp>
        <p:nvSpPr>
          <p:cNvPr id="8" name="Shape 6"/>
          <p:cNvSpPr/>
          <p:nvPr/>
        </p:nvSpPr>
        <p:spPr>
          <a:xfrm>
            <a:off x="4754880" y="1097280"/>
            <a:ext cx="3931920" cy="457200"/>
          </a:xfrm>
          <a:prstGeom prst="rect">
            <a:avLst/>
          </a:prstGeom>
          <a:solidFill>
            <a:srgbClr val="F97316"/>
          </a:solidFill>
          <a:ln/>
        </p:spPr>
      </p:sp>
      <p:sp>
        <p:nvSpPr>
          <p:cNvPr id="9" name="Text 7"/>
          <p:cNvSpPr/>
          <p:nvPr/>
        </p:nvSpPr>
        <p:spPr>
          <a:xfrm>
            <a:off x="4754880" y="1143000"/>
            <a:ext cx="393192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LLMOPS</a:t>
            </a:r>
            <a:endParaRPr lang="en-US" sz="1400" dirty="0"/>
          </a:p>
        </p:txBody>
      </p:sp>
      <p:sp>
        <p:nvSpPr>
          <p:cNvPr id="10" name="Text 8"/>
          <p:cNvSpPr/>
          <p:nvPr/>
        </p:nvSpPr>
        <p:spPr>
          <a:xfrm>
            <a:off x="4937760" y="1737360"/>
            <a:ext cx="3566160" cy="2743200"/>
          </a:xfrm>
          <a:prstGeom prst="rect">
            <a:avLst/>
          </a:prstGeom>
          <a:noFill/>
          <a:ln/>
        </p:spPr>
        <p:txBody>
          <a:bodyPr wrap="square" lIns="0" tIns="0" rIns="0" bIns="0" rtlCol="0" anchor="t"/>
          <a:lstStyle/>
          <a:p>
            <a:pPr indent="0" marL="0">
              <a:buNone/>
            </a:pPr>
            <a:r>
              <a:rPr lang="en-US" sz="1300" b="1" dirty="0">
                <a:solidFill>
                  <a:srgbClr val="1E293B"/>
                </a:solidFill>
                <a:latin typeface="Calibri" pitchFamily="34" charset="0"/>
                <a:ea typeface="Calibri" pitchFamily="34" charset="-122"/>
                <a:cs typeface="Calibri" pitchFamily="34" charset="-120"/>
              </a:rPr>
              <a:t>Pre-trained foundation models</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Prompts, chains, agents, adapters</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Hallucination, faithfulness, toxicity</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Prompt templates, RAG corpora</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Prompt tuning, RAG updates, model swaps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AI Lifecycle &amp; Experiment Tracking</a:t>
            </a:r>
            <a:endParaRPr lang="en-US" sz="2800" dirty="0"/>
          </a:p>
        </p:txBody>
      </p:sp>
      <p:sp>
        <p:nvSpPr>
          <p:cNvPr id="3" name="Shape 1"/>
          <p:cNvSpPr/>
          <p:nvPr/>
        </p:nvSpPr>
        <p:spPr>
          <a:xfrm>
            <a:off x="457200" y="109728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 name="Shape 2"/>
          <p:cNvSpPr/>
          <p:nvPr/>
        </p:nvSpPr>
        <p:spPr>
          <a:xfrm>
            <a:off x="640080" y="1280160"/>
            <a:ext cx="502920" cy="502920"/>
          </a:xfrm>
          <a:prstGeom prst="ellipse">
            <a:avLst/>
          </a:prstGeom>
          <a:solidFill>
            <a:srgbClr val="0D9488">
              <a:alpha val="85000"/>
            </a:srgbClr>
          </a:solidFill>
          <a:ln/>
        </p:spPr>
      </p:sp>
      <p:sp>
        <p:nvSpPr>
          <p:cNvPr id="5" name="Text 3"/>
          <p:cNvSpPr/>
          <p:nvPr/>
        </p:nvSpPr>
        <p:spPr>
          <a:xfrm>
            <a:off x="640080" y="129844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D</a:t>
            </a:r>
            <a:endParaRPr lang="en-US" sz="1800" dirty="0"/>
          </a:p>
        </p:txBody>
      </p:sp>
      <p:sp>
        <p:nvSpPr>
          <p:cNvPr id="6" name="Text 4"/>
          <p:cNvSpPr/>
          <p:nvPr/>
        </p:nvSpPr>
        <p:spPr>
          <a:xfrm>
            <a:off x="1280160" y="132588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Design</a:t>
            </a:r>
            <a:endParaRPr lang="en-US" sz="1500" dirty="0"/>
          </a:p>
        </p:txBody>
      </p:sp>
      <p:sp>
        <p:nvSpPr>
          <p:cNvPr id="7" name="Text 5"/>
          <p:cNvSpPr/>
          <p:nvPr/>
        </p:nvSpPr>
        <p:spPr>
          <a:xfrm>
            <a:off x="640080" y="192024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Use case selection, architecture design, constraint mapping.</a:t>
            </a:r>
            <a:endParaRPr lang="en-US" sz="1100" dirty="0"/>
          </a:p>
        </p:txBody>
      </p:sp>
      <p:sp>
        <p:nvSpPr>
          <p:cNvPr id="8" name="Shape 6"/>
          <p:cNvSpPr/>
          <p:nvPr/>
        </p:nvSpPr>
        <p:spPr>
          <a:xfrm>
            <a:off x="4663440" y="109728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4846320" y="1280160"/>
            <a:ext cx="502920" cy="502920"/>
          </a:xfrm>
          <a:prstGeom prst="ellipse">
            <a:avLst/>
          </a:prstGeom>
          <a:solidFill>
            <a:srgbClr val="F97316">
              <a:alpha val="85000"/>
            </a:srgbClr>
          </a:solidFill>
          <a:ln/>
        </p:spPr>
      </p:sp>
      <p:sp>
        <p:nvSpPr>
          <p:cNvPr id="10" name="Text 8"/>
          <p:cNvSpPr/>
          <p:nvPr/>
        </p:nvSpPr>
        <p:spPr>
          <a:xfrm>
            <a:off x="4846320" y="129844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B</a:t>
            </a:r>
            <a:endParaRPr lang="en-US" sz="1800" dirty="0"/>
          </a:p>
        </p:txBody>
      </p:sp>
      <p:sp>
        <p:nvSpPr>
          <p:cNvPr id="11" name="Text 9"/>
          <p:cNvSpPr/>
          <p:nvPr/>
        </p:nvSpPr>
        <p:spPr>
          <a:xfrm>
            <a:off x="5486400" y="132588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Build</a:t>
            </a:r>
            <a:endParaRPr lang="en-US" sz="1500" dirty="0"/>
          </a:p>
        </p:txBody>
      </p:sp>
      <p:sp>
        <p:nvSpPr>
          <p:cNvPr id="12" name="Text 10"/>
          <p:cNvSpPr/>
          <p:nvPr/>
        </p:nvSpPr>
        <p:spPr>
          <a:xfrm>
            <a:off x="4846320" y="192024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Prompt engineering, RAG pipelines, chain composition, agent logic.</a:t>
            </a:r>
            <a:endParaRPr lang="en-US" sz="1100" dirty="0"/>
          </a:p>
        </p:txBody>
      </p:sp>
      <p:sp>
        <p:nvSpPr>
          <p:cNvPr id="13" name="Shape 11"/>
          <p:cNvSpPr/>
          <p:nvPr/>
        </p:nvSpPr>
        <p:spPr>
          <a:xfrm>
            <a:off x="457200" y="301752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2"/>
          <p:cNvSpPr/>
          <p:nvPr/>
        </p:nvSpPr>
        <p:spPr>
          <a:xfrm>
            <a:off x="640080" y="3200400"/>
            <a:ext cx="502920" cy="502920"/>
          </a:xfrm>
          <a:prstGeom prst="ellipse">
            <a:avLst/>
          </a:prstGeom>
          <a:solidFill>
            <a:srgbClr val="8B5CF6">
              <a:alpha val="85000"/>
            </a:srgbClr>
          </a:solidFill>
          <a:ln/>
        </p:spPr>
      </p:sp>
      <p:sp>
        <p:nvSpPr>
          <p:cNvPr id="15" name="Text 13"/>
          <p:cNvSpPr/>
          <p:nvPr/>
        </p:nvSpPr>
        <p:spPr>
          <a:xfrm>
            <a:off x="640080" y="321868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E</a:t>
            </a:r>
            <a:endParaRPr lang="en-US" sz="1800" dirty="0"/>
          </a:p>
        </p:txBody>
      </p:sp>
      <p:sp>
        <p:nvSpPr>
          <p:cNvPr id="16" name="Text 14"/>
          <p:cNvSpPr/>
          <p:nvPr/>
        </p:nvSpPr>
        <p:spPr>
          <a:xfrm>
            <a:off x="1280160" y="324612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Evaluate</a:t>
            </a:r>
            <a:endParaRPr lang="en-US" sz="1500" dirty="0"/>
          </a:p>
        </p:txBody>
      </p:sp>
      <p:sp>
        <p:nvSpPr>
          <p:cNvPr id="17" name="Text 15"/>
          <p:cNvSpPr/>
          <p:nvPr/>
        </p:nvSpPr>
        <p:spPr>
          <a:xfrm>
            <a:off x="640080" y="384048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Offline evals, online A/B testing, RAGAS, LangSmith.</a:t>
            </a:r>
            <a:endParaRPr lang="en-US" sz="1100" dirty="0"/>
          </a:p>
        </p:txBody>
      </p:sp>
      <p:sp>
        <p:nvSpPr>
          <p:cNvPr id="18" name="Shape 16"/>
          <p:cNvSpPr/>
          <p:nvPr/>
        </p:nvSpPr>
        <p:spPr>
          <a:xfrm>
            <a:off x="4663440" y="301752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Shape 17"/>
          <p:cNvSpPr/>
          <p:nvPr/>
        </p:nvSpPr>
        <p:spPr>
          <a:xfrm>
            <a:off x="4846320" y="3200400"/>
            <a:ext cx="502920" cy="502920"/>
          </a:xfrm>
          <a:prstGeom prst="ellipse">
            <a:avLst/>
          </a:prstGeom>
          <a:solidFill>
            <a:srgbClr val="3B82F6">
              <a:alpha val="85000"/>
            </a:srgbClr>
          </a:solidFill>
          <a:ln/>
        </p:spPr>
      </p:sp>
      <p:sp>
        <p:nvSpPr>
          <p:cNvPr id="20" name="Text 18"/>
          <p:cNvSpPr/>
          <p:nvPr/>
        </p:nvSpPr>
        <p:spPr>
          <a:xfrm>
            <a:off x="4846320" y="321868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M</a:t>
            </a:r>
            <a:endParaRPr lang="en-US" sz="1800" dirty="0"/>
          </a:p>
        </p:txBody>
      </p:sp>
      <p:sp>
        <p:nvSpPr>
          <p:cNvPr id="21" name="Text 19"/>
          <p:cNvSpPr/>
          <p:nvPr/>
        </p:nvSpPr>
        <p:spPr>
          <a:xfrm>
            <a:off x="5486400" y="324612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Monitor</a:t>
            </a:r>
            <a:endParaRPr lang="en-US" sz="1500" dirty="0"/>
          </a:p>
        </p:txBody>
      </p:sp>
      <p:sp>
        <p:nvSpPr>
          <p:cNvPr id="22" name="Text 20"/>
          <p:cNvSpPr/>
          <p:nvPr/>
        </p:nvSpPr>
        <p:spPr>
          <a:xfrm>
            <a:off x="4846320" y="384048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Latency, cost, quality, safety. Continuous feedback loop.</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LLMOps Key Concepts</a:t>
            </a:r>
            <a:endParaRPr lang="en-US" sz="2800" dirty="0"/>
          </a:p>
        </p:txBody>
      </p:sp>
      <p:sp>
        <p:nvSpPr>
          <p:cNvPr id="3" name="Text 1"/>
          <p:cNvSpPr/>
          <p:nvPr/>
        </p:nvSpPr>
        <p:spPr>
          <a:xfrm>
            <a:off x="457200" y="914400"/>
            <a:ext cx="8229600" cy="3200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Tools and practices for production LLM apps</a:t>
            </a:r>
            <a:endParaRPr lang="en-US" sz="1300" dirty="0"/>
          </a:p>
        </p:txBody>
      </p:sp>
      <p:sp>
        <p:nvSpPr>
          <p:cNvPr id="4" name="Shape 2"/>
          <p:cNvSpPr/>
          <p:nvPr/>
        </p:nvSpPr>
        <p:spPr>
          <a:xfrm>
            <a:off x="457200" y="1371600"/>
            <a:ext cx="393192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1371600"/>
            <a:ext cx="73152" cy="1554480"/>
          </a:xfrm>
          <a:prstGeom prst="rect">
            <a:avLst/>
          </a:prstGeom>
          <a:solidFill>
            <a:srgbClr val="0D9488"/>
          </a:solidFill>
          <a:ln/>
        </p:spPr>
      </p:sp>
      <p:sp>
        <p:nvSpPr>
          <p:cNvPr id="6" name="Text 4"/>
          <p:cNvSpPr/>
          <p:nvPr/>
        </p:nvSpPr>
        <p:spPr>
          <a:xfrm>
            <a:off x="731520" y="1508760"/>
            <a:ext cx="1371600" cy="548640"/>
          </a:xfrm>
          <a:prstGeom prst="rect">
            <a:avLst/>
          </a:prstGeom>
          <a:noFill/>
          <a:ln/>
        </p:spPr>
        <p:txBody>
          <a:bodyPr wrap="square" lIns="0" tIns="0" rIns="0" bIns="0" rtlCol="0" anchor="ctr"/>
          <a:lstStyle/>
          <a:p>
            <a:pPr indent="0" marL="0">
              <a:buNone/>
            </a:pPr>
            <a:r>
              <a:rPr lang="en-US" sz="2600" b="1" dirty="0">
                <a:solidFill>
                  <a:srgbClr val="1E3A5F"/>
                </a:solidFill>
                <a:latin typeface="Georgia" pitchFamily="34" charset="0"/>
                <a:ea typeface="Georgia" pitchFamily="34" charset="-122"/>
                <a:cs typeface="Georgia" pitchFamily="34" charset="-120"/>
              </a:rPr>
              <a:t>Registry</a:t>
            </a:r>
            <a:endParaRPr lang="en-US" sz="2600" dirty="0"/>
          </a:p>
        </p:txBody>
      </p:sp>
      <p:sp>
        <p:nvSpPr>
          <p:cNvPr id="7" name="Text 5"/>
          <p:cNvSpPr/>
          <p:nvPr/>
        </p:nvSpPr>
        <p:spPr>
          <a:xfrm>
            <a:off x="2103120" y="1554480"/>
            <a:ext cx="210312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Model Registry</a:t>
            </a:r>
            <a:endParaRPr lang="en-US" sz="1400" dirty="0"/>
          </a:p>
        </p:txBody>
      </p:sp>
      <p:sp>
        <p:nvSpPr>
          <p:cNvPr id="8" name="Text 6"/>
          <p:cNvSpPr/>
          <p:nvPr/>
        </p:nvSpPr>
        <p:spPr>
          <a:xfrm>
            <a:off x="731520" y="2194560"/>
            <a:ext cx="347472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Track model versions, metadata, lineage (MLflow, Azure ML)</a:t>
            </a:r>
            <a:endParaRPr lang="en-US" sz="1100" dirty="0"/>
          </a:p>
        </p:txBody>
      </p:sp>
      <p:sp>
        <p:nvSpPr>
          <p:cNvPr id="9" name="Shape 7"/>
          <p:cNvSpPr/>
          <p:nvPr/>
        </p:nvSpPr>
        <p:spPr>
          <a:xfrm>
            <a:off x="4663440" y="1371600"/>
            <a:ext cx="393192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8"/>
          <p:cNvSpPr/>
          <p:nvPr/>
        </p:nvSpPr>
        <p:spPr>
          <a:xfrm>
            <a:off x="4663440" y="1371600"/>
            <a:ext cx="73152" cy="1554480"/>
          </a:xfrm>
          <a:prstGeom prst="rect">
            <a:avLst/>
          </a:prstGeom>
          <a:solidFill>
            <a:srgbClr val="F97316"/>
          </a:solidFill>
          <a:ln/>
        </p:spPr>
      </p:sp>
      <p:sp>
        <p:nvSpPr>
          <p:cNvPr id="11" name="Text 9"/>
          <p:cNvSpPr/>
          <p:nvPr/>
        </p:nvSpPr>
        <p:spPr>
          <a:xfrm>
            <a:off x="4937760" y="1508760"/>
            <a:ext cx="1371600" cy="548640"/>
          </a:xfrm>
          <a:prstGeom prst="rect">
            <a:avLst/>
          </a:prstGeom>
          <a:noFill/>
          <a:ln/>
        </p:spPr>
        <p:txBody>
          <a:bodyPr wrap="square" lIns="0" tIns="0" rIns="0" bIns="0" rtlCol="0" anchor="ctr"/>
          <a:lstStyle/>
          <a:p>
            <a:pPr indent="0" marL="0">
              <a:buNone/>
            </a:pPr>
            <a:r>
              <a:rPr lang="en-US" sz="2600" b="1" dirty="0">
                <a:solidFill>
                  <a:srgbClr val="1E3A5F"/>
                </a:solidFill>
                <a:latin typeface="Georgia" pitchFamily="34" charset="0"/>
                <a:ea typeface="Georgia" pitchFamily="34" charset="-122"/>
                <a:cs typeface="Georgia" pitchFamily="34" charset="-120"/>
              </a:rPr>
              <a:t>A/B</a:t>
            </a:r>
            <a:endParaRPr lang="en-US" sz="2600" dirty="0"/>
          </a:p>
        </p:txBody>
      </p:sp>
      <p:sp>
        <p:nvSpPr>
          <p:cNvPr id="12" name="Text 10"/>
          <p:cNvSpPr/>
          <p:nvPr/>
        </p:nvSpPr>
        <p:spPr>
          <a:xfrm>
            <a:off x="6309360" y="1554480"/>
            <a:ext cx="210312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A/B Testing</a:t>
            </a:r>
            <a:endParaRPr lang="en-US" sz="1400" dirty="0"/>
          </a:p>
        </p:txBody>
      </p:sp>
      <p:sp>
        <p:nvSpPr>
          <p:cNvPr id="13" name="Text 11"/>
          <p:cNvSpPr/>
          <p:nvPr/>
        </p:nvSpPr>
        <p:spPr>
          <a:xfrm>
            <a:off x="4937760" y="2194560"/>
            <a:ext cx="347472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Compare model versions or prompt variants on live traffic</a:t>
            </a:r>
            <a:endParaRPr lang="en-US" sz="1100" dirty="0"/>
          </a:p>
        </p:txBody>
      </p:sp>
      <p:sp>
        <p:nvSpPr>
          <p:cNvPr id="14" name="Shape 12"/>
          <p:cNvSpPr/>
          <p:nvPr/>
        </p:nvSpPr>
        <p:spPr>
          <a:xfrm>
            <a:off x="457200" y="3108960"/>
            <a:ext cx="393192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3"/>
          <p:cNvSpPr/>
          <p:nvPr/>
        </p:nvSpPr>
        <p:spPr>
          <a:xfrm>
            <a:off x="457200" y="3108960"/>
            <a:ext cx="73152" cy="1554480"/>
          </a:xfrm>
          <a:prstGeom prst="rect">
            <a:avLst/>
          </a:prstGeom>
          <a:solidFill>
            <a:srgbClr val="8B5CF6"/>
          </a:solidFill>
          <a:ln/>
        </p:spPr>
      </p:sp>
      <p:sp>
        <p:nvSpPr>
          <p:cNvPr id="16" name="Text 14"/>
          <p:cNvSpPr/>
          <p:nvPr/>
        </p:nvSpPr>
        <p:spPr>
          <a:xfrm>
            <a:off x="731520" y="3246120"/>
            <a:ext cx="1371600" cy="548640"/>
          </a:xfrm>
          <a:prstGeom prst="rect">
            <a:avLst/>
          </a:prstGeom>
          <a:noFill/>
          <a:ln/>
        </p:spPr>
        <p:txBody>
          <a:bodyPr wrap="square" lIns="0" tIns="0" rIns="0" bIns="0" rtlCol="0" anchor="ctr"/>
          <a:lstStyle/>
          <a:p>
            <a:pPr indent="0" marL="0">
              <a:buNone/>
            </a:pPr>
            <a:r>
              <a:rPr lang="en-US" sz="2600" b="1" dirty="0">
                <a:solidFill>
                  <a:srgbClr val="1E3A5F"/>
                </a:solidFill>
                <a:latin typeface="Georgia" pitchFamily="34" charset="0"/>
                <a:ea typeface="Georgia" pitchFamily="34" charset="-122"/>
                <a:cs typeface="Georgia" pitchFamily="34" charset="-120"/>
              </a:rPr>
              <a:t>Guard</a:t>
            </a:r>
            <a:endParaRPr lang="en-US" sz="2600" dirty="0"/>
          </a:p>
        </p:txBody>
      </p:sp>
      <p:sp>
        <p:nvSpPr>
          <p:cNvPr id="17" name="Text 15"/>
          <p:cNvSpPr/>
          <p:nvPr/>
        </p:nvSpPr>
        <p:spPr>
          <a:xfrm>
            <a:off x="2103120" y="3291840"/>
            <a:ext cx="210312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Guard Rails</a:t>
            </a:r>
            <a:endParaRPr lang="en-US" sz="1400" dirty="0"/>
          </a:p>
        </p:txBody>
      </p:sp>
      <p:sp>
        <p:nvSpPr>
          <p:cNvPr id="18" name="Text 16"/>
          <p:cNvSpPr/>
          <p:nvPr/>
        </p:nvSpPr>
        <p:spPr>
          <a:xfrm>
            <a:off x="731520" y="3931920"/>
            <a:ext cx="347472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Input/output validation, content filtering, safety classifiers</a:t>
            </a:r>
            <a:endParaRPr lang="en-US" sz="1100" dirty="0"/>
          </a:p>
        </p:txBody>
      </p:sp>
      <p:sp>
        <p:nvSpPr>
          <p:cNvPr id="19" name="Shape 17"/>
          <p:cNvSpPr/>
          <p:nvPr/>
        </p:nvSpPr>
        <p:spPr>
          <a:xfrm>
            <a:off x="4663440" y="3108960"/>
            <a:ext cx="3931920" cy="15544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0" name="Shape 18"/>
          <p:cNvSpPr/>
          <p:nvPr/>
        </p:nvSpPr>
        <p:spPr>
          <a:xfrm>
            <a:off x="4663440" y="3108960"/>
            <a:ext cx="73152" cy="1554480"/>
          </a:xfrm>
          <a:prstGeom prst="rect">
            <a:avLst/>
          </a:prstGeom>
          <a:solidFill>
            <a:srgbClr val="3B82F6"/>
          </a:solidFill>
          <a:ln/>
        </p:spPr>
      </p:sp>
      <p:sp>
        <p:nvSpPr>
          <p:cNvPr id="21" name="Text 19"/>
          <p:cNvSpPr/>
          <p:nvPr/>
        </p:nvSpPr>
        <p:spPr>
          <a:xfrm>
            <a:off x="4937760" y="3246120"/>
            <a:ext cx="1371600" cy="548640"/>
          </a:xfrm>
          <a:prstGeom prst="rect">
            <a:avLst/>
          </a:prstGeom>
          <a:noFill/>
          <a:ln/>
        </p:spPr>
        <p:txBody>
          <a:bodyPr wrap="square" lIns="0" tIns="0" rIns="0" bIns="0" rtlCol="0" anchor="ctr"/>
          <a:lstStyle/>
          <a:p>
            <a:pPr indent="0" marL="0">
              <a:buNone/>
            </a:pPr>
            <a:r>
              <a:rPr lang="en-US" sz="2600" b="1" dirty="0">
                <a:solidFill>
                  <a:srgbClr val="1E3A5F"/>
                </a:solidFill>
                <a:latin typeface="Georgia" pitchFamily="34" charset="0"/>
                <a:ea typeface="Georgia" pitchFamily="34" charset="-122"/>
                <a:cs typeface="Georgia" pitchFamily="34" charset="-120"/>
              </a:rPr>
              <a:t>Feature</a:t>
            </a:r>
            <a:endParaRPr lang="en-US" sz="2600" dirty="0"/>
          </a:p>
        </p:txBody>
      </p:sp>
      <p:sp>
        <p:nvSpPr>
          <p:cNvPr id="22" name="Text 20"/>
          <p:cNvSpPr/>
          <p:nvPr/>
        </p:nvSpPr>
        <p:spPr>
          <a:xfrm>
            <a:off x="6309360" y="3291840"/>
            <a:ext cx="210312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Feature Store</a:t>
            </a:r>
            <a:endParaRPr lang="en-US" sz="1400" dirty="0"/>
          </a:p>
        </p:txBody>
      </p:sp>
      <p:sp>
        <p:nvSpPr>
          <p:cNvPr id="23" name="Text 21"/>
          <p:cNvSpPr/>
          <p:nvPr/>
        </p:nvSpPr>
        <p:spPr>
          <a:xfrm>
            <a:off x="4937760" y="3931920"/>
            <a:ext cx="347472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Manage RAG chunks, embedding indexes, prompt templates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Cost Optimization Strategies</a:t>
            </a:r>
            <a:endParaRPr lang="en-US" sz="2800" dirty="0"/>
          </a:p>
        </p:txBody>
      </p:sp>
      <p:sp>
        <p:nvSpPr>
          <p:cNvPr id="3" name="Shape 1"/>
          <p:cNvSpPr/>
          <p:nvPr/>
        </p:nvSpPr>
        <p:spPr>
          <a:xfrm>
            <a:off x="457200" y="109728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 name="Shape 2"/>
          <p:cNvSpPr/>
          <p:nvPr/>
        </p:nvSpPr>
        <p:spPr>
          <a:xfrm>
            <a:off x="640080" y="1280160"/>
            <a:ext cx="502920" cy="502920"/>
          </a:xfrm>
          <a:prstGeom prst="ellipse">
            <a:avLst/>
          </a:prstGeom>
          <a:solidFill>
            <a:srgbClr val="0D9488">
              <a:alpha val="85000"/>
            </a:srgbClr>
          </a:solidFill>
          <a:ln/>
        </p:spPr>
      </p:sp>
      <p:sp>
        <p:nvSpPr>
          <p:cNvPr id="5" name="Text 3"/>
          <p:cNvSpPr/>
          <p:nvPr/>
        </p:nvSpPr>
        <p:spPr>
          <a:xfrm>
            <a:off x="640080" y="129844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R</a:t>
            </a:r>
            <a:endParaRPr lang="en-US" sz="1800" dirty="0"/>
          </a:p>
        </p:txBody>
      </p:sp>
      <p:sp>
        <p:nvSpPr>
          <p:cNvPr id="6" name="Text 4"/>
          <p:cNvSpPr/>
          <p:nvPr/>
        </p:nvSpPr>
        <p:spPr>
          <a:xfrm>
            <a:off x="1280160" y="132588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Model Routing</a:t>
            </a:r>
            <a:endParaRPr lang="en-US" sz="1500" dirty="0"/>
          </a:p>
        </p:txBody>
      </p:sp>
      <p:sp>
        <p:nvSpPr>
          <p:cNvPr id="7" name="Text 5"/>
          <p:cNvSpPr/>
          <p:nvPr/>
        </p:nvSpPr>
        <p:spPr>
          <a:xfrm>
            <a:off x="640080" y="192024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Route simple queries to cheaper models (GPT-3.5), complex to GPT-4.</a:t>
            </a:r>
            <a:endParaRPr lang="en-US" sz="1100" dirty="0"/>
          </a:p>
        </p:txBody>
      </p:sp>
      <p:sp>
        <p:nvSpPr>
          <p:cNvPr id="8" name="Shape 6"/>
          <p:cNvSpPr/>
          <p:nvPr/>
        </p:nvSpPr>
        <p:spPr>
          <a:xfrm>
            <a:off x="4663440" y="109728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4846320" y="1280160"/>
            <a:ext cx="502920" cy="502920"/>
          </a:xfrm>
          <a:prstGeom prst="ellipse">
            <a:avLst/>
          </a:prstGeom>
          <a:solidFill>
            <a:srgbClr val="F97316">
              <a:alpha val="85000"/>
            </a:srgbClr>
          </a:solidFill>
          <a:ln/>
        </p:spPr>
      </p:sp>
      <p:sp>
        <p:nvSpPr>
          <p:cNvPr id="10" name="Text 8"/>
          <p:cNvSpPr/>
          <p:nvPr/>
        </p:nvSpPr>
        <p:spPr>
          <a:xfrm>
            <a:off x="4846320" y="129844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C</a:t>
            </a:r>
            <a:endParaRPr lang="en-US" sz="1800" dirty="0"/>
          </a:p>
        </p:txBody>
      </p:sp>
      <p:sp>
        <p:nvSpPr>
          <p:cNvPr id="11" name="Text 9"/>
          <p:cNvSpPr/>
          <p:nvPr/>
        </p:nvSpPr>
        <p:spPr>
          <a:xfrm>
            <a:off x="5486400" y="132588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Semantic Caching</a:t>
            </a:r>
            <a:endParaRPr lang="en-US" sz="1500" dirty="0"/>
          </a:p>
        </p:txBody>
      </p:sp>
      <p:sp>
        <p:nvSpPr>
          <p:cNvPr id="12" name="Text 10"/>
          <p:cNvSpPr/>
          <p:nvPr/>
        </p:nvSpPr>
        <p:spPr>
          <a:xfrm>
            <a:off x="4846320" y="192024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Cache responses for similar queries. 30-60% cost reduction.</a:t>
            </a:r>
            <a:endParaRPr lang="en-US" sz="1100" dirty="0"/>
          </a:p>
        </p:txBody>
      </p:sp>
      <p:sp>
        <p:nvSpPr>
          <p:cNvPr id="13" name="Shape 11"/>
          <p:cNvSpPr/>
          <p:nvPr/>
        </p:nvSpPr>
        <p:spPr>
          <a:xfrm>
            <a:off x="457200" y="301752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2"/>
          <p:cNvSpPr/>
          <p:nvPr/>
        </p:nvSpPr>
        <p:spPr>
          <a:xfrm>
            <a:off x="640080" y="3200400"/>
            <a:ext cx="502920" cy="502920"/>
          </a:xfrm>
          <a:prstGeom prst="ellipse">
            <a:avLst/>
          </a:prstGeom>
          <a:solidFill>
            <a:srgbClr val="8B5CF6">
              <a:alpha val="85000"/>
            </a:srgbClr>
          </a:solidFill>
          <a:ln/>
        </p:spPr>
      </p:sp>
      <p:sp>
        <p:nvSpPr>
          <p:cNvPr id="15" name="Text 13"/>
          <p:cNvSpPr/>
          <p:nvPr/>
        </p:nvSpPr>
        <p:spPr>
          <a:xfrm>
            <a:off x="640080" y="321868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B</a:t>
            </a:r>
            <a:endParaRPr lang="en-US" sz="1800" dirty="0"/>
          </a:p>
        </p:txBody>
      </p:sp>
      <p:sp>
        <p:nvSpPr>
          <p:cNvPr id="16" name="Text 14"/>
          <p:cNvSpPr/>
          <p:nvPr/>
        </p:nvSpPr>
        <p:spPr>
          <a:xfrm>
            <a:off x="1280160" y="324612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Batch Processing</a:t>
            </a:r>
            <a:endParaRPr lang="en-US" sz="1500" dirty="0"/>
          </a:p>
        </p:txBody>
      </p:sp>
      <p:sp>
        <p:nvSpPr>
          <p:cNvPr id="17" name="Text 15"/>
          <p:cNvSpPr/>
          <p:nvPr/>
        </p:nvSpPr>
        <p:spPr>
          <a:xfrm>
            <a:off x="640080" y="384048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Batch non-real-time requests. Lower per-token cost.</a:t>
            </a:r>
            <a:endParaRPr lang="en-US" sz="1100" dirty="0"/>
          </a:p>
        </p:txBody>
      </p:sp>
      <p:sp>
        <p:nvSpPr>
          <p:cNvPr id="18" name="Shape 16"/>
          <p:cNvSpPr/>
          <p:nvPr/>
        </p:nvSpPr>
        <p:spPr>
          <a:xfrm>
            <a:off x="4663440" y="3017520"/>
            <a:ext cx="3931920" cy="1737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Shape 17"/>
          <p:cNvSpPr/>
          <p:nvPr/>
        </p:nvSpPr>
        <p:spPr>
          <a:xfrm>
            <a:off x="4846320" y="3200400"/>
            <a:ext cx="502920" cy="502920"/>
          </a:xfrm>
          <a:prstGeom prst="ellipse">
            <a:avLst/>
          </a:prstGeom>
          <a:solidFill>
            <a:srgbClr val="3B82F6">
              <a:alpha val="85000"/>
            </a:srgbClr>
          </a:solidFill>
          <a:ln/>
        </p:spPr>
      </p:sp>
      <p:sp>
        <p:nvSpPr>
          <p:cNvPr id="20" name="Text 18"/>
          <p:cNvSpPr/>
          <p:nvPr/>
        </p:nvSpPr>
        <p:spPr>
          <a:xfrm>
            <a:off x="4846320" y="3218688"/>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O</a:t>
            </a:r>
            <a:endParaRPr lang="en-US" sz="1800" dirty="0"/>
          </a:p>
        </p:txBody>
      </p:sp>
      <p:sp>
        <p:nvSpPr>
          <p:cNvPr id="21" name="Text 19"/>
          <p:cNvSpPr/>
          <p:nvPr/>
        </p:nvSpPr>
        <p:spPr>
          <a:xfrm>
            <a:off x="5486400" y="3246120"/>
            <a:ext cx="292608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Open Source Models</a:t>
            </a:r>
            <a:endParaRPr lang="en-US" sz="1500" dirty="0"/>
          </a:p>
        </p:txBody>
      </p:sp>
      <p:sp>
        <p:nvSpPr>
          <p:cNvPr id="22" name="Text 20"/>
          <p:cNvSpPr/>
          <p:nvPr/>
        </p:nvSpPr>
        <p:spPr>
          <a:xfrm>
            <a:off x="4846320" y="3840480"/>
            <a:ext cx="3566160" cy="7315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Self-host smaller models for high-volume, low-complexity tasks.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2800" b="1" dirty="0">
                <a:solidFill>
                  <a:srgbClr val="1E3A5F"/>
                </a:solidFill>
                <a:latin typeface="Georgia" pitchFamily="34" charset="0"/>
                <a:ea typeface="Georgia" pitchFamily="34" charset="-122"/>
                <a:cs typeface="Georgia" pitchFamily="34" charset="-120"/>
              </a:rPr>
              <a:t>Key Takeaways</a:t>
            </a:r>
            <a:endParaRPr lang="en-US" sz="2800" dirty="0"/>
          </a:p>
        </p:txBody>
      </p:sp>
      <p:sp>
        <p:nvSpPr>
          <p:cNvPr id="3" name="Shape 1"/>
          <p:cNvSpPr/>
          <p:nvPr/>
        </p:nvSpPr>
        <p:spPr>
          <a:xfrm>
            <a:off x="457200" y="1143000"/>
            <a:ext cx="411480" cy="411480"/>
          </a:xfrm>
          <a:prstGeom prst="ellipse">
            <a:avLst/>
          </a:prstGeom>
          <a:solidFill>
            <a:srgbClr val="0D9488"/>
          </a:solidFill>
          <a:ln/>
        </p:spPr>
      </p:sp>
      <p:sp>
        <p:nvSpPr>
          <p:cNvPr id="4" name="Text 2"/>
          <p:cNvSpPr/>
          <p:nvPr/>
        </p:nvSpPr>
        <p:spPr>
          <a:xfrm>
            <a:off x="457200" y="1161288"/>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5" name="Text 3"/>
          <p:cNvSpPr/>
          <p:nvPr/>
        </p:nvSpPr>
        <p:spPr>
          <a:xfrm>
            <a:off x="1097280" y="1143000"/>
            <a:ext cx="758952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LLMOps extends MLOps with prompt management, token observability, and safety monitoring</a:t>
            </a:r>
            <a:endParaRPr lang="en-US" sz="1300" dirty="0"/>
          </a:p>
        </p:txBody>
      </p:sp>
      <p:sp>
        <p:nvSpPr>
          <p:cNvPr id="6" name="Shape 4"/>
          <p:cNvSpPr/>
          <p:nvPr/>
        </p:nvSpPr>
        <p:spPr>
          <a:xfrm>
            <a:off x="457200" y="1783080"/>
            <a:ext cx="411480" cy="411480"/>
          </a:xfrm>
          <a:prstGeom prst="ellipse">
            <a:avLst/>
          </a:prstGeom>
          <a:solidFill>
            <a:srgbClr val="F97316"/>
          </a:solidFill>
          <a:ln/>
        </p:spPr>
      </p:sp>
      <p:sp>
        <p:nvSpPr>
          <p:cNvPr id="7" name="Text 5"/>
          <p:cNvSpPr/>
          <p:nvPr/>
        </p:nvSpPr>
        <p:spPr>
          <a:xfrm>
            <a:off x="457200" y="1801368"/>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8" name="Text 6"/>
          <p:cNvSpPr/>
          <p:nvPr/>
        </p:nvSpPr>
        <p:spPr>
          <a:xfrm>
            <a:off x="1097280" y="1783080"/>
            <a:ext cx="758952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AI lifecycle is iterative: Design → Build → Evaluate → Deploy → Monitor → repeat</a:t>
            </a:r>
            <a:endParaRPr lang="en-US" sz="1300" dirty="0"/>
          </a:p>
        </p:txBody>
      </p:sp>
      <p:sp>
        <p:nvSpPr>
          <p:cNvPr id="9" name="Shape 7"/>
          <p:cNvSpPr/>
          <p:nvPr/>
        </p:nvSpPr>
        <p:spPr>
          <a:xfrm>
            <a:off x="457200" y="2423160"/>
            <a:ext cx="411480" cy="411480"/>
          </a:xfrm>
          <a:prstGeom prst="ellipse">
            <a:avLst/>
          </a:prstGeom>
          <a:solidFill>
            <a:srgbClr val="8B5CF6"/>
          </a:solidFill>
          <a:ln/>
        </p:spPr>
      </p:sp>
      <p:sp>
        <p:nvSpPr>
          <p:cNvPr id="10" name="Text 8"/>
          <p:cNvSpPr/>
          <p:nvPr/>
        </p:nvSpPr>
        <p:spPr>
          <a:xfrm>
            <a:off x="457200" y="2441448"/>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1" name="Text 9"/>
          <p:cNvSpPr/>
          <p:nvPr/>
        </p:nvSpPr>
        <p:spPr>
          <a:xfrm>
            <a:off x="1097280" y="2423160"/>
            <a:ext cx="758952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Experiment tracking (MLflow) enables reproducibility across prompt and model versions</a:t>
            </a:r>
            <a:endParaRPr lang="en-US" sz="1300" dirty="0"/>
          </a:p>
        </p:txBody>
      </p:sp>
      <p:sp>
        <p:nvSpPr>
          <p:cNvPr id="12" name="Shape 10"/>
          <p:cNvSpPr/>
          <p:nvPr/>
        </p:nvSpPr>
        <p:spPr>
          <a:xfrm>
            <a:off x="457200" y="3063240"/>
            <a:ext cx="411480" cy="411480"/>
          </a:xfrm>
          <a:prstGeom prst="ellipse">
            <a:avLst/>
          </a:prstGeom>
          <a:solidFill>
            <a:srgbClr val="3B82F6"/>
          </a:solidFill>
          <a:ln/>
        </p:spPr>
      </p:sp>
      <p:sp>
        <p:nvSpPr>
          <p:cNvPr id="13" name="Text 11"/>
          <p:cNvSpPr/>
          <p:nvPr/>
        </p:nvSpPr>
        <p:spPr>
          <a:xfrm>
            <a:off x="457200" y="3081528"/>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4" name="Text 12"/>
          <p:cNvSpPr/>
          <p:nvPr/>
        </p:nvSpPr>
        <p:spPr>
          <a:xfrm>
            <a:off x="1097280" y="3063240"/>
            <a:ext cx="758952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Cost optimization: model routing, semantic caching, batching, open-source models</a:t>
            </a:r>
            <a:endParaRPr lang="en-US" sz="1300" dirty="0"/>
          </a:p>
        </p:txBody>
      </p:sp>
      <p:sp>
        <p:nvSpPr>
          <p:cNvPr id="15" name="Shape 13"/>
          <p:cNvSpPr/>
          <p:nvPr/>
        </p:nvSpPr>
        <p:spPr>
          <a:xfrm>
            <a:off x="457200" y="3703320"/>
            <a:ext cx="411480" cy="411480"/>
          </a:xfrm>
          <a:prstGeom prst="ellipse">
            <a:avLst/>
          </a:prstGeom>
          <a:solidFill>
            <a:srgbClr val="0D9488"/>
          </a:solidFill>
          <a:ln/>
        </p:spPr>
      </p:sp>
      <p:sp>
        <p:nvSpPr>
          <p:cNvPr id="16" name="Text 14"/>
          <p:cNvSpPr/>
          <p:nvPr/>
        </p:nvSpPr>
        <p:spPr>
          <a:xfrm>
            <a:off x="457200" y="3721608"/>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17" name="Text 15"/>
          <p:cNvSpPr/>
          <p:nvPr/>
        </p:nvSpPr>
        <p:spPr>
          <a:xfrm>
            <a:off x="1097280" y="3703320"/>
            <a:ext cx="758952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Security: prompt injection defense, PII protection, compliance (GDPR, SOC 2)</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2743200" y="2011680"/>
            <a:ext cx="3657600" cy="36576"/>
          </a:xfrm>
          <a:prstGeom prst="rect">
            <a:avLst/>
          </a:prstGeom>
          <a:solidFill>
            <a:srgbClr val="0D9488"/>
          </a:solidFill>
          <a:ln/>
        </p:spPr>
      </p:sp>
      <p:sp>
        <p:nvSpPr>
          <p:cNvPr id="3" name="Text 1"/>
          <p:cNvSpPr/>
          <p:nvPr/>
        </p:nvSpPr>
        <p:spPr>
          <a:xfrm>
            <a:off x="0" y="2286000"/>
            <a:ext cx="9144000" cy="82296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Thank You</a:t>
            </a:r>
            <a:endParaRPr lang="en-US" sz="4200" dirty="0"/>
          </a:p>
        </p:txBody>
      </p:sp>
      <p:sp>
        <p:nvSpPr>
          <p:cNvPr id="4" name="Text 2"/>
          <p:cNvSpPr/>
          <p:nvPr/>
        </p:nvSpPr>
        <p:spPr>
          <a:xfrm>
            <a:off x="0" y="3108960"/>
            <a:ext cx="9144000" cy="457200"/>
          </a:xfrm>
          <a:prstGeom prst="rect">
            <a:avLst/>
          </a:prstGeom>
          <a:noFill/>
          <a:ln/>
        </p:spPr>
        <p:txBody>
          <a:bodyPr wrap="square" lIns="0" tIns="0" rIns="0" bIns="0" rtlCol="0" anchor="ctr"/>
          <a:lstStyle/>
          <a:p>
            <a:pPr algn="ctr" indent="0" marL="0">
              <a:buNone/>
            </a:pPr>
            <a:r>
              <a:rPr lang="en-US" sz="2000" dirty="0">
                <a:solidFill>
                  <a:srgbClr val="0D9488"/>
                </a:solidFill>
                <a:latin typeface="Calibri" pitchFamily="34" charset="0"/>
                <a:ea typeface="Calibri" pitchFamily="34" charset="-122"/>
                <a:cs typeface="Calibri" pitchFamily="34" charset="-120"/>
              </a:rPr>
              <a:t>Questions &amp; Discussion</a:t>
            </a:r>
            <a:endParaRPr lang="en-US" sz="2000" dirty="0"/>
          </a:p>
        </p:txBody>
      </p:sp>
      <p:sp>
        <p:nvSpPr>
          <p:cNvPr id="5" name="Shape 3"/>
          <p:cNvSpPr/>
          <p:nvPr/>
        </p:nvSpPr>
        <p:spPr>
          <a:xfrm>
            <a:off x="2743200" y="3749040"/>
            <a:ext cx="3657600" cy="36576"/>
          </a:xfrm>
          <a:prstGeom prst="rect">
            <a:avLst/>
          </a:prstGeom>
          <a:solidFill>
            <a:srgbClr val="0D9488"/>
          </a:solidFill>
          <a:ln/>
        </p:spPr>
      </p:sp>
      <p:sp>
        <p:nvSpPr>
          <p:cNvPr id="6" name="Text 4"/>
          <p:cNvSpPr/>
          <p:nvPr/>
        </p:nvSpPr>
        <p:spPr>
          <a:xfrm>
            <a:off x="0" y="4023360"/>
            <a:ext cx="9144000" cy="365760"/>
          </a:xfrm>
          <a:prstGeom prst="rect">
            <a:avLst/>
          </a:prstGeom>
          <a:noFill/>
          <a:ln/>
        </p:spPr>
        <p:txBody>
          <a:bodyPr wrap="square" lIns="0" tIns="0" rIns="0" bIns="0"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Next: Module 12 — Capstone Projects</a:t>
            </a:r>
            <a:endParaRPr lang="en-US" sz="1400" dirty="0"/>
          </a:p>
        </p:txBody>
      </p:sp>
      <p:sp>
        <p:nvSpPr>
          <p:cNvPr id="7" name="Text 5"/>
          <p:cNvSpPr/>
          <p:nvPr/>
        </p:nvSpPr>
        <p:spPr>
          <a:xfrm>
            <a:off x="0" y="4389120"/>
            <a:ext cx="9144000" cy="36576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Applied AI Course  |  Part 1: Foundations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LLMOps</dc:title>
  <dc:subject>PptxGenJS Presentation</dc:subject>
  <dc:creator>PptxGenJS</dc:creator>
  <cp:lastModifiedBy>PptxGenJS</cp:lastModifiedBy>
  <cp:revision>1</cp:revision>
  <dcterms:created xsi:type="dcterms:W3CDTF">2026-04-02T06:24:26Z</dcterms:created>
  <dcterms:modified xsi:type="dcterms:W3CDTF">2026-04-02T06:24:26Z</dcterms:modified>
</cp:coreProperties>
</file>