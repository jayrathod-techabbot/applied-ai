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4. Module 4 covers agentic AI systems — agents that perceive, reason, act, and learn autonomously. We explore design patterns (ReAct, Plan-and-Execute, Reflection), multi-agent coordination (supervisor, hierarchical, debate, swarm), the A2A communication protocol, and building agents with LangGraph.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AI agent has five core components: Perception (processing inputs), Memory (short/long-term context), Reasoning (decision-making), Action (tool execution), and Reflection (self-evaluation). Agents exist on an autonomy spectrum from Level 0 (simple LLM) to Level 5 (full autonomy).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main agent patterns. ReAct: interleaves reasoning with actions (Thought-Action-Observation). Plan-and-Execute: separates planning from execution for better control. Tool Use: agents dynamically select and compose tools. Reflection: agents critique and improve their own outputs through self-evaluation loops.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Multi-agent systems overcome single-agent limitations through specialization, parallelism, verification, and scalability. Supervisor: central coordinator delegates tasks. Hierarchical: tree structure with managers/worker agents. Debate: proponent/opponent/moderator argue to reach optimal solutions. Swarm: parallel agents with aggregated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A2A (Agent-to-Agent) protocol defines standardized communication between autonomous agents. Three patterns: Request-Response (synchronous task delegation), Publish-Subscribe (event-driven async), and Streaming (real-time data flow). Security requires authentication (identity tokens), authorization (RBAC), message integrity (HMAC), and rate limiting.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LangGraph builds agents as stateful graphs. 1) State: TypedDict schema flowing through every node. 2) Nodes: functions that read state and return updates. 3) Edges: normal (always) or conditional (router function). 4) Compile: creates executable app with optional checkpointing. 5) Execute: invoke() for completion, stream() for step-by-step.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major multi-agent frameworks. CrewAI: role-based agents, sequential/hierarchical coordination. AutoGen: conversable agents with event-driven chat. LangGraph: node-based state machines with cycles and persistence. MetaGPT: SOP-driven structured coordination for software development. LangGraph is the most flexible for complex production workflows.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key takeaways on agentic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concludes MODULE 4. Students should review the concepts, interview questions, and quiz materials before proceeding.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Agents &amp; Coordination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Course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Foundations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731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1371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21208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Agentic AI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19385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12080" y="19842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Design Patterns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5054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12080" y="25511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Coordination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30723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12080" y="31181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Protocol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36393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12080" y="36850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with LangGraph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an Agent?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 of an autonomous AI agent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👁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10312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processing from environment (queries, APIs, files)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371600"/>
            <a:ext cx="73152" cy="1554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508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0936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194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 via CoT, ReAct, planning algorithms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08960"/>
            <a:ext cx="73152" cy="1554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46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10312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931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Executing operations via tools (APIs, DB queries, code)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1089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108960"/>
            <a:ext cx="73152" cy="1554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246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🔄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30936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931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Self-evaluation and error recovery loops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Design Patterns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→ Act → Observe loop. Transparent reasoning. Best for open-ended Q&amp;A.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280160"/>
            <a:ext cx="502920" cy="502920"/>
          </a:xfrm>
          <a:prstGeom prst="ellipse">
            <a:avLst/>
          </a:prstGeom>
          <a:solidFill>
            <a:srgbClr val="F97316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Plan-and-Execute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strategy first, then execute. Verifiable. Best for complex multi-step tasks.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8B5CF6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tool selection. Flexible, composable. Best for task automation.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200400"/>
            <a:ext cx="502920" cy="502920"/>
          </a:xfrm>
          <a:prstGeom prst="ellipse">
            <a:avLst/>
          </a:prstGeom>
          <a:solidFill>
            <a:srgbClr val="3B82F6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4632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→ Critique → Refine. High quality. Best for content generation.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 Orchestration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coordinator delegates to specialized agents. Simple, controlled.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280160"/>
            <a:ext cx="502920" cy="502920"/>
          </a:xfrm>
          <a:prstGeom prst="ellipse">
            <a:avLst/>
          </a:prstGeom>
          <a:solidFill>
            <a:srgbClr val="F97316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structure with managers and workers. Scalable delegation.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8B5CF6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argue different perspectives. Better decisions through adversarial review.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200400"/>
            <a:ext cx="502920" cy="502920"/>
          </a:xfrm>
          <a:prstGeom prst="ellipse">
            <a:avLst/>
          </a:prstGeom>
          <a:solidFill>
            <a:srgbClr val="3B82F6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4632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independent agents, aggregated results. Emergent coordination.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A2A Communication Protocol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Request-Response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task delegation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IDs for matching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Publish-Subscribe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async communication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Topic-based message routing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identity tokens, mutual TLS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quotas, backpressure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 Agent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7680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920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TypedDict schema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3840480"/>
            <a:ext cx="1463040" cy="822960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9319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state schema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76272" y="1920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2176272" y="196596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10512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10512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functions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01952" y="3840480"/>
            <a:ext cx="1463040" cy="822960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15" name="Text 13"/>
          <p:cNvSpPr/>
          <p:nvPr/>
        </p:nvSpPr>
        <p:spPr>
          <a:xfrm>
            <a:off x="1993392" y="39319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LLM/Tool/Router nodes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12464" y="192024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3712464" y="196596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346704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46704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connections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38144" y="3840480"/>
            <a:ext cx="1463040" cy="822960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21" name="Text 19"/>
          <p:cNvSpPr/>
          <p:nvPr/>
        </p:nvSpPr>
        <p:spPr>
          <a:xfrm>
            <a:off x="3529584" y="39319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+ conditional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48656" y="192024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5248656" y="196596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82896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82896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graph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74336" y="3840480"/>
            <a:ext cx="1463040" cy="822960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27" name="Text 25"/>
          <p:cNvSpPr/>
          <p:nvPr/>
        </p:nvSpPr>
        <p:spPr>
          <a:xfrm>
            <a:off x="5065776" y="39319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graph.compile()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84848" y="1920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6784848" y="196596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419088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19088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invoke/stream/run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10528" y="3840480"/>
            <a:ext cx="1463040" cy="822960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33" name="Text 31"/>
          <p:cNvSpPr/>
          <p:nvPr/>
        </p:nvSpPr>
        <p:spPr>
          <a:xfrm>
            <a:off x="6601968" y="39319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checkpointing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 Frameworks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agents with sequential/hierarchical coordination. Research &amp; content.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280160"/>
            <a:ext cx="502920" cy="502920"/>
          </a:xfrm>
          <a:prstGeom prst="ellipse">
            <a:avLst/>
          </a:prstGeom>
          <a:solidFill>
            <a:srgbClr val="F97316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Conversable agents with event-driven chat. Code generation &amp; analysis.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8B5CF6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Node-based state machines. Complex workflows with cycles and persistence.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200400"/>
            <a:ext cx="502920" cy="502920"/>
          </a:xfrm>
          <a:prstGeom prst="ellipse">
            <a:avLst/>
          </a:prstGeom>
          <a:solidFill>
            <a:srgbClr val="3B82F6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MetaGPT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4632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SOP-driven structured coordination. Software development automation.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612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1430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perceive, reason, act, and reflect — existing on a 5-level autonomy spectrum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01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7830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Plan-and-Execute, Tool Use, and Reflection are the four core design patterns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41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4231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 use supervisor, hierarchical, debate, and swarm coordination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81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0632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protocol standardizes inter-agent communication with security guarantees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7216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7033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provides stateful graph orchestration with cycles, persistence, and streaming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2011680"/>
            <a:ext cx="3657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2860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0" y="3108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0" y="3749040"/>
            <a:ext cx="3657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023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Module 3 — Model Context Protocol (MCP)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389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Course  |  Part 1: Foundations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Systems</dc:title>
  <dc:subject>PptxGenJS Presentation</dc:subject>
  <dc:creator>PptxGenJS</dc:creator>
  <cp:lastModifiedBy>PptxGenJS</cp:lastModifiedBy>
  <cp:revision>1</cp:revision>
  <dcterms:created xsi:type="dcterms:W3CDTF">2026-04-02T06:24:26Z</dcterms:created>
  <dcterms:modified xsi:type="dcterms:W3CDTF">2026-04-02T06:24:26Z</dcterms:modified>
</cp:coreProperties>
</file>